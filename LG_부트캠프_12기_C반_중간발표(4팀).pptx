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2" r:id="rId4"/>
    <p:sldId id="258" r:id="rId5"/>
    <p:sldId id="259" r:id="rId6"/>
  </p:sldIdLst>
  <p:sldSz cx="9144000" cy="5143500" type="screen16x9"/>
  <p:notesSz cx="5143500" cy="9144000"/>
  <p:embeddedFontLst>
    <p:embeddedFont>
      <p:font typeface="맑은 고딕" panose="020B0503020000020004" pitchFamily="50" charset="-127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B35"/>
    <a:srgbClr val="00E5F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276357-A538-DF6C-2AE2-EB0C73C3568F}" v="2" dt="2026-04-16T07:59:54.832"/>
    <p1510:client id="{E821F20D-1CB9-4AF8-4C27-00A63C064002}" v="25" dt="2026-04-16T07:56:37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13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891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AF0961-C78A-D195-E6A3-6C233C937B4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3854450" y="63500"/>
            <a:ext cx="14668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2" Type="http://schemas.microsoft.com/office/2007/relationships/media" Target="../media/media1.m4a"/><Relationship Id="rId1" Type="http://schemas.openxmlformats.org/officeDocument/2006/relationships/audio" Target="NULL" TargetMode="Externa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28016" y="128016"/>
            <a:ext cx="8887968" cy="4887468"/>
          </a:xfrm>
          <a:prstGeom prst="rect">
            <a:avLst/>
          </a:prstGeom>
          <a:ln w="889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28016" y="128016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28016" y="1280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5156" y="105156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8814816" y="128016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9015984" y="1280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8993124" y="105156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28016" y="5015484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128016" y="48143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05156" y="4992624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8814816" y="5015484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015984" y="48143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8993124" y="4992624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128016" y="128016"/>
            <a:ext cx="8887968" cy="256032"/>
          </a:xfrm>
          <a:prstGeom prst="rect">
            <a:avLst/>
          </a:prstGeom>
          <a:solidFill>
            <a:srgbClr val="050D14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365760" y="164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SYSTEM v2.1  ·  PROJECT REPORT</a:t>
            </a:r>
            <a:endParaRPr lang="en-US" sz="800"/>
          </a:p>
        </p:txBody>
      </p:sp>
      <p:sp>
        <p:nvSpPr>
          <p:cNvPr id="71" name="Text 69"/>
          <p:cNvSpPr/>
          <p:nvPr/>
        </p:nvSpPr>
        <p:spPr>
          <a:xfrm>
            <a:off x="5120640" y="164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SYSTEM LOCKED</a:t>
            </a:r>
            <a:endParaRPr lang="en-US" sz="800"/>
          </a:p>
        </p:txBody>
      </p:sp>
      <p:sp>
        <p:nvSpPr>
          <p:cNvPr id="72" name="Shape 70"/>
          <p:cNvSpPr/>
          <p:nvPr/>
        </p:nvSpPr>
        <p:spPr>
          <a:xfrm>
            <a:off x="128016" y="4759452"/>
            <a:ext cx="8887968" cy="256032"/>
          </a:xfrm>
          <a:prstGeom prst="rect">
            <a:avLst/>
          </a:prstGeom>
          <a:solidFill>
            <a:srgbClr val="050D14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28016" y="4759452"/>
            <a:ext cx="8887968" cy="0"/>
          </a:xfrm>
          <a:prstGeom prst="line">
            <a:avLst/>
          </a:prstGeom>
          <a:noFill/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365760" y="477850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chemeClr val="bg1">
                    <a:lumMod val="8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 SW BOOTCAMP · 2026</a:t>
            </a:r>
            <a:endParaRPr lang="en-US" sz="7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5" name="Text 73"/>
          <p:cNvSpPr/>
          <p:nvPr/>
        </p:nvSpPr>
        <p:spPr>
          <a:xfrm>
            <a:off x="3200400" y="47594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80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HRD_ERROR_404</a:t>
            </a:r>
            <a:endParaRPr lang="en-US" altLang="ko-KR" sz="800">
              <a:solidFill>
                <a:srgbClr val="00E5FF"/>
              </a:solidFill>
            </a:endParaRPr>
          </a:p>
        </p:txBody>
      </p:sp>
      <p:sp>
        <p:nvSpPr>
          <p:cNvPr id="76" name="Shape 74"/>
          <p:cNvSpPr/>
          <p:nvPr/>
        </p:nvSpPr>
        <p:spPr>
          <a:xfrm>
            <a:off x="1371600" y="822960"/>
            <a:ext cx="6400800" cy="3291840"/>
          </a:xfrm>
          <a:prstGeom prst="rect">
            <a:avLst/>
          </a:prstGeom>
          <a:solidFill>
            <a:srgbClr val="001820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371600" y="822960"/>
            <a:ext cx="64008" cy="32918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2011680" y="1484122"/>
            <a:ext cx="1371600" cy="0"/>
          </a:xfrm>
          <a:prstGeom prst="line">
            <a:avLst/>
          </a:prstGeom>
          <a:noFill/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3474720" y="139268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3366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endParaRPr lang="en-US" sz="900"/>
          </a:p>
        </p:txBody>
      </p:sp>
      <p:sp>
        <p:nvSpPr>
          <p:cNvPr id="80" name="Shape 78"/>
          <p:cNvSpPr/>
          <p:nvPr/>
        </p:nvSpPr>
        <p:spPr>
          <a:xfrm>
            <a:off x="5394960" y="1484122"/>
            <a:ext cx="1371600" cy="0"/>
          </a:xfrm>
          <a:prstGeom prst="line">
            <a:avLst/>
          </a:prstGeom>
          <a:noFill/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1463040" y="17018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</a:t>
            </a:r>
            <a:r>
              <a:rPr lang="en-US" sz="36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64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Escape</a:t>
            </a:r>
            <a:endParaRPr lang="en-US" sz="6400"/>
          </a:p>
        </p:txBody>
      </p:sp>
      <p:sp>
        <p:nvSpPr>
          <p:cNvPr id="82" name="Shape 80"/>
          <p:cNvSpPr/>
          <p:nvPr/>
        </p:nvSpPr>
        <p:spPr>
          <a:xfrm>
            <a:off x="2926080" y="2680843"/>
            <a:ext cx="329184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B72DAEF9-88C8-4DCE-B795-119579AD690D}"/>
              </a:ext>
            </a:extLst>
          </p:cNvPr>
          <p:cNvGrpSpPr/>
          <p:nvPr/>
        </p:nvGrpSpPr>
        <p:grpSpPr>
          <a:xfrm>
            <a:off x="3461009" y="2940558"/>
            <a:ext cx="2221983" cy="360934"/>
            <a:chOff x="3502152" y="2921508"/>
            <a:chExt cx="2221983" cy="360934"/>
          </a:xfrm>
        </p:grpSpPr>
        <p:sp>
          <p:nvSpPr>
            <p:cNvPr id="86" name="Shape 84"/>
            <p:cNvSpPr/>
            <p:nvPr/>
          </p:nvSpPr>
          <p:spPr>
            <a:xfrm>
              <a:off x="3502152" y="2921508"/>
              <a:ext cx="2221983" cy="360934"/>
            </a:xfrm>
            <a:prstGeom prst="rect">
              <a:avLst/>
            </a:prstGeom>
            <a:solidFill>
              <a:srgbClr val="1F0D00"/>
            </a:solidFill>
            <a:ln w="10160">
              <a:solidFill>
                <a:srgbClr val="FF6B3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7" name="Text 85"/>
            <p:cNvSpPr/>
            <p:nvPr/>
          </p:nvSpPr>
          <p:spPr>
            <a:xfrm>
              <a:off x="3554730" y="2955671"/>
              <a:ext cx="2116827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>
                  <a:solidFill>
                    <a:srgbClr val="FF6B35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! HRD_ERROR_404 !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28016" y="128016"/>
            <a:ext cx="8887968" cy="4887468"/>
          </a:xfrm>
          <a:prstGeom prst="rect">
            <a:avLst/>
          </a:prstGeom>
          <a:ln w="889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28016" y="128016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28016" y="1280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5156" y="105156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8814816" y="128016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9015984" y="1280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8993124" y="105156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28016" y="5015484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128016" y="48143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05156" y="4992624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8814816" y="5015484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015984" y="48143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8993124" y="4992624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128016" y="128016"/>
            <a:ext cx="8887968" cy="256032"/>
          </a:xfrm>
          <a:prstGeom prst="rect">
            <a:avLst/>
          </a:prstGeom>
          <a:solidFill>
            <a:srgbClr val="050D14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365760" y="164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ESCAPE·  PROJECT REPORT</a:t>
            </a:r>
            <a:endParaRPr lang="en-US" sz="600"/>
          </a:p>
        </p:txBody>
      </p:sp>
      <p:sp>
        <p:nvSpPr>
          <p:cNvPr id="71" name="Text 69"/>
          <p:cNvSpPr/>
          <p:nvPr/>
        </p:nvSpPr>
        <p:spPr>
          <a:xfrm>
            <a:off x="5120640" y="164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주제 및 결과 요약</a:t>
            </a:r>
            <a:endParaRPr lang="en-US" sz="550"/>
          </a:p>
        </p:txBody>
      </p:sp>
      <p:sp>
        <p:nvSpPr>
          <p:cNvPr id="72" name="Shape 70"/>
          <p:cNvSpPr/>
          <p:nvPr/>
        </p:nvSpPr>
        <p:spPr>
          <a:xfrm>
            <a:off x="128016" y="4759452"/>
            <a:ext cx="8887968" cy="256032"/>
          </a:xfrm>
          <a:prstGeom prst="rect">
            <a:avLst/>
          </a:prstGeom>
          <a:solidFill>
            <a:srgbClr val="050D14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28016" y="4759452"/>
            <a:ext cx="8887968" cy="0"/>
          </a:xfrm>
          <a:prstGeom prst="line">
            <a:avLst/>
          </a:prstGeom>
          <a:noFill/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365760" y="47594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>
                <a:solidFill>
                  <a:srgbClr val="223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 SW BOOTCAMP · 2026</a:t>
            </a:r>
            <a:endParaRPr lang="en-US" sz="600"/>
          </a:p>
        </p:txBody>
      </p:sp>
      <p:sp>
        <p:nvSpPr>
          <p:cNvPr id="75" name="Text 73"/>
          <p:cNvSpPr/>
          <p:nvPr/>
        </p:nvSpPr>
        <p:spPr>
          <a:xfrm>
            <a:off x="3200400" y="47594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/>
          </a:p>
        </p:txBody>
      </p:sp>
      <p:sp>
        <p:nvSpPr>
          <p:cNvPr id="76" name="Text 74"/>
          <p:cNvSpPr/>
          <p:nvPr/>
        </p:nvSpPr>
        <p:spPr>
          <a:xfrm>
            <a:off x="365760" y="4754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주제 및 </a:t>
            </a:r>
            <a:r>
              <a:rPr lang="ko-KR" altLang="en-US" sz="7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프로젝트</a:t>
            </a:r>
            <a:r>
              <a:rPr lang="en-US" sz="7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요약</a:t>
            </a:r>
            <a:endParaRPr lang="en-US" sz="700"/>
          </a:p>
        </p:txBody>
      </p:sp>
      <p:sp>
        <p:nvSpPr>
          <p:cNvPr id="77" name="Shape 75"/>
          <p:cNvSpPr/>
          <p:nvPr/>
        </p:nvSpPr>
        <p:spPr>
          <a:xfrm>
            <a:off x="1552792" y="547125"/>
            <a:ext cx="7225447" cy="10658"/>
          </a:xfrm>
          <a:prstGeom prst="line">
            <a:avLst/>
          </a:prstGeom>
          <a:noFill/>
          <a:ln w="508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365760" y="694943"/>
            <a:ext cx="4114800" cy="3846831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493776" y="749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프로젝트 개요</a:t>
            </a:r>
            <a:endParaRPr lang="en-US" sz="900"/>
          </a:p>
        </p:txBody>
      </p:sp>
      <p:sp>
        <p:nvSpPr>
          <p:cNvPr id="81" name="Shape 79"/>
          <p:cNvSpPr/>
          <p:nvPr/>
        </p:nvSpPr>
        <p:spPr>
          <a:xfrm>
            <a:off x="493776" y="1005840"/>
            <a:ext cx="3749040" cy="0"/>
          </a:xfrm>
          <a:prstGeom prst="line">
            <a:avLst/>
          </a:prstGeom>
          <a:noFill/>
          <a:ln w="508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493776" y="1051559"/>
            <a:ext cx="3794760" cy="3309126"/>
          </a:xfrm>
          <a:prstGeom prst="rect">
            <a:avLst/>
          </a:prstGeom>
          <a:solidFill>
            <a:srgbClr val="0D1A26"/>
          </a:solidFill>
          <a:ln w="5080">
            <a:solidFill>
              <a:srgbClr val="2233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93776" y="1051560"/>
            <a:ext cx="3794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/>
          </a:p>
        </p:txBody>
      </p:sp>
      <p:sp>
        <p:nvSpPr>
          <p:cNvPr id="84" name="Shape 82"/>
          <p:cNvSpPr/>
          <p:nvPr/>
        </p:nvSpPr>
        <p:spPr>
          <a:xfrm>
            <a:off x="4663440" y="739394"/>
            <a:ext cx="4114800" cy="843929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4663440" y="739394"/>
            <a:ext cx="45720" cy="843929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4846320" y="785115"/>
            <a:ext cx="1097280" cy="76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3800"/>
          </a:p>
        </p:txBody>
      </p:sp>
      <p:sp>
        <p:nvSpPr>
          <p:cNvPr id="87" name="Shape 85"/>
          <p:cNvSpPr/>
          <p:nvPr/>
        </p:nvSpPr>
        <p:spPr>
          <a:xfrm>
            <a:off x="5989320" y="922274"/>
            <a:ext cx="0" cy="537046"/>
          </a:xfrm>
          <a:prstGeom prst="line">
            <a:avLst/>
          </a:prstGeom>
          <a:noFill/>
          <a:ln w="508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6133338" y="913791"/>
            <a:ext cx="2468880" cy="230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미션 수</a:t>
            </a:r>
            <a:endParaRPr lang="en-US" sz="900"/>
          </a:p>
        </p:txBody>
      </p:sp>
      <p:sp>
        <p:nvSpPr>
          <p:cNvPr id="89" name="Text 87"/>
          <p:cNvSpPr/>
          <p:nvPr/>
        </p:nvSpPr>
        <p:spPr>
          <a:xfrm>
            <a:off x="6135027" y="1061877"/>
            <a:ext cx="2468880" cy="168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</a:t>
            </a:r>
            <a:endParaRPr lang="en-US" sz="700"/>
          </a:p>
        </p:txBody>
      </p:sp>
      <p:sp>
        <p:nvSpPr>
          <p:cNvPr id="90" name="Shape 88"/>
          <p:cNvSpPr/>
          <p:nvPr/>
        </p:nvSpPr>
        <p:spPr>
          <a:xfrm>
            <a:off x="6133338" y="1246228"/>
            <a:ext cx="2468880" cy="243188"/>
          </a:xfrm>
          <a:prstGeom prst="rect">
            <a:avLst/>
          </a:prstGeom>
          <a:solidFill>
            <a:srgbClr val="0D1A26"/>
          </a:solidFill>
          <a:ln w="5080">
            <a:solidFill>
              <a:srgbClr val="2233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6287834" y="1274352"/>
            <a:ext cx="2237612" cy="21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ko-KR" altLang="en-US" sz="9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디바이스 드라이버를 활용한 </a:t>
            </a:r>
            <a:r>
              <a:rPr lang="en-US" altLang="ko-KR" sz="9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ko-KR" altLang="en-US" sz="9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개의 빅 미션 </a:t>
            </a:r>
            <a:endParaRPr lang="en-US" sz="90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 73">
            <a:extLst>
              <a:ext uri="{FF2B5EF4-FFF2-40B4-BE49-F238E27FC236}">
                <a16:creationId xmlns:a16="http://schemas.microsoft.com/office/drawing/2014/main" id="{EE0C5F27-854F-4B11-9A1D-2506804A837F}"/>
              </a:ext>
            </a:extLst>
          </p:cNvPr>
          <p:cNvSpPr/>
          <p:nvPr/>
        </p:nvSpPr>
        <p:spPr>
          <a:xfrm>
            <a:off x="3352800" y="476580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80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HRD_ERROR_404</a:t>
            </a:r>
            <a:endParaRPr lang="en-US" altLang="ko-KR" sz="800">
              <a:solidFill>
                <a:srgbClr val="00E5FF"/>
              </a:solidFill>
            </a:endParaRP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DD3EB2DA-66E0-4701-B024-611D3CD3F028}"/>
              </a:ext>
            </a:extLst>
          </p:cNvPr>
          <p:cNvGrpSpPr/>
          <p:nvPr/>
        </p:nvGrpSpPr>
        <p:grpSpPr>
          <a:xfrm>
            <a:off x="740666" y="1786835"/>
            <a:ext cx="2764917" cy="182880"/>
            <a:chOff x="1682497" y="2318005"/>
            <a:chExt cx="2764917" cy="182880"/>
          </a:xfrm>
        </p:grpSpPr>
        <p:sp>
          <p:nvSpPr>
            <p:cNvPr id="119" name="Text 84">
              <a:extLst>
                <a:ext uri="{FF2B5EF4-FFF2-40B4-BE49-F238E27FC236}">
                  <a16:creationId xmlns:a16="http://schemas.microsoft.com/office/drawing/2014/main" id="{7019493F-39AD-42AA-98ED-1BA1AFD71A2A}"/>
                </a:ext>
              </a:extLst>
            </p:cNvPr>
            <p:cNvSpPr/>
            <p:nvPr/>
          </p:nvSpPr>
          <p:spPr>
            <a:xfrm>
              <a:off x="1682497" y="2318005"/>
              <a:ext cx="822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>
                  <a:solidFill>
                    <a:srgbClr val="00E5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복구 조건 :</a:t>
              </a:r>
              <a:endParaRPr lang="en-US" sz="800"/>
            </a:p>
          </p:txBody>
        </p:sp>
        <p:sp>
          <p:nvSpPr>
            <p:cNvPr id="120" name="Text 85">
              <a:extLst>
                <a:ext uri="{FF2B5EF4-FFF2-40B4-BE49-F238E27FC236}">
                  <a16:creationId xmlns:a16="http://schemas.microsoft.com/office/drawing/2014/main" id="{26B0DE3E-2EE8-4258-BB19-0C9E770FE88B}"/>
                </a:ext>
              </a:extLst>
            </p:cNvPr>
            <p:cNvSpPr/>
            <p:nvPr/>
          </p:nvSpPr>
          <p:spPr>
            <a:xfrm>
              <a:off x="2710054" y="2331149"/>
              <a:ext cx="1737360" cy="156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5단계 보안 인증 순차 완료</a:t>
              </a:r>
              <a:endParaRPr lang="en-US" sz="800"/>
            </a:p>
          </p:txBody>
        </p: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448E5F10-39A0-48D2-9A7F-E7DBACB9BFA8}"/>
              </a:ext>
            </a:extLst>
          </p:cNvPr>
          <p:cNvGrpSpPr/>
          <p:nvPr/>
        </p:nvGrpSpPr>
        <p:grpSpPr>
          <a:xfrm>
            <a:off x="760290" y="1947162"/>
            <a:ext cx="3848285" cy="259338"/>
            <a:chOff x="1697354" y="2551804"/>
            <a:chExt cx="3848285" cy="259338"/>
          </a:xfrm>
        </p:grpSpPr>
        <p:sp>
          <p:nvSpPr>
            <p:cNvPr id="122" name="Text 86">
              <a:extLst>
                <a:ext uri="{FF2B5EF4-FFF2-40B4-BE49-F238E27FC236}">
                  <a16:creationId xmlns:a16="http://schemas.microsoft.com/office/drawing/2014/main" id="{E409D665-9025-43D4-9F0A-3E9829715023}"/>
                </a:ext>
              </a:extLst>
            </p:cNvPr>
            <p:cNvSpPr/>
            <p:nvPr/>
          </p:nvSpPr>
          <p:spPr>
            <a:xfrm>
              <a:off x="1697354" y="2607909"/>
              <a:ext cx="800863" cy="1506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>
                  <a:solidFill>
                    <a:srgbClr val="FF6B35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경    고 :</a:t>
              </a:r>
              <a:endParaRPr lang="en-US" sz="800"/>
            </a:p>
          </p:txBody>
        </p:sp>
        <p:sp>
          <p:nvSpPr>
            <p:cNvPr id="123" name="Text 87">
              <a:extLst>
                <a:ext uri="{FF2B5EF4-FFF2-40B4-BE49-F238E27FC236}">
                  <a16:creationId xmlns:a16="http://schemas.microsoft.com/office/drawing/2014/main" id="{85A005F8-C7D9-4FEA-B404-AA305447D8DF}"/>
                </a:ext>
              </a:extLst>
            </p:cNvPr>
            <p:cNvSpPr/>
            <p:nvPr/>
          </p:nvSpPr>
          <p:spPr>
            <a:xfrm>
              <a:off x="2692329" y="2551804"/>
              <a:ext cx="2853310" cy="2593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>
                  <a:solidFill>
                    <a:srgbClr val="8899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가장 먼저 </a:t>
              </a:r>
              <a:r>
                <a:rPr lang="en-US" sz="800" err="1">
                  <a:solidFill>
                    <a:srgbClr val="8899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인증을</a:t>
              </a:r>
              <a:r>
                <a:rPr lang="en-US" sz="800">
                  <a:solidFill>
                    <a:srgbClr val="8899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ko-KR" altLang="en-US" sz="800">
                  <a:solidFill>
                    <a:srgbClr val="8899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완료한</a:t>
              </a:r>
              <a:r>
                <a:rPr lang="en-US" sz="800">
                  <a:solidFill>
                    <a:srgbClr val="8899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팀</a:t>
              </a:r>
              <a:r>
                <a:rPr lang="ko-KR" altLang="en-US" sz="800">
                  <a:solidFill>
                    <a:srgbClr val="8899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만 </a:t>
              </a:r>
              <a:r>
                <a:rPr lang="en-US" sz="800">
                  <a:solidFill>
                    <a:srgbClr val="8899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퇴</a:t>
              </a:r>
              <a:r>
                <a:rPr lang="ko-KR" altLang="en-US" sz="800">
                  <a:solidFill>
                    <a:srgbClr val="8899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실</a:t>
              </a:r>
              <a:r>
                <a:rPr lang="en-US" sz="800">
                  <a:solidFill>
                    <a:srgbClr val="8899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이 승인됩니다.</a:t>
              </a:r>
              <a:endParaRPr lang="en-US" sz="800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8B439192-5BB6-444C-94A5-221E1FFEAE76}"/>
              </a:ext>
            </a:extLst>
          </p:cNvPr>
          <p:cNvGrpSpPr/>
          <p:nvPr/>
        </p:nvGrpSpPr>
        <p:grpSpPr>
          <a:xfrm>
            <a:off x="738027" y="2197737"/>
            <a:ext cx="3792855" cy="182880"/>
            <a:chOff x="1675257" y="2818318"/>
            <a:chExt cx="3792855" cy="182880"/>
          </a:xfrm>
        </p:grpSpPr>
        <p:sp>
          <p:nvSpPr>
            <p:cNvPr id="125" name="Text 88">
              <a:extLst>
                <a:ext uri="{FF2B5EF4-FFF2-40B4-BE49-F238E27FC236}">
                  <a16:creationId xmlns:a16="http://schemas.microsoft.com/office/drawing/2014/main" id="{F18FB09E-1913-411A-93DF-1969A41F3A96}"/>
                </a:ext>
              </a:extLst>
            </p:cNvPr>
            <p:cNvSpPr/>
            <p:nvPr/>
          </p:nvSpPr>
          <p:spPr>
            <a:xfrm>
              <a:off x="1675257" y="2818318"/>
              <a:ext cx="822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800" b="1">
                  <a:solidFill>
                    <a:srgbClr val="00E5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제한 시간 </a:t>
              </a:r>
              <a:r>
                <a:rPr lang="en-US" sz="800" b="1">
                  <a:solidFill>
                    <a:srgbClr val="00E5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:</a:t>
              </a:r>
              <a:endParaRPr lang="en-US" sz="800"/>
            </a:p>
          </p:txBody>
        </p:sp>
        <p:sp>
          <p:nvSpPr>
            <p:cNvPr id="126" name="Text 89">
              <a:extLst>
                <a:ext uri="{FF2B5EF4-FFF2-40B4-BE49-F238E27FC236}">
                  <a16:creationId xmlns:a16="http://schemas.microsoft.com/office/drawing/2014/main" id="{7B8F0670-388B-4208-B4B4-D0F2157C1574}"/>
                </a:ext>
              </a:extLst>
            </p:cNvPr>
            <p:cNvSpPr/>
            <p:nvPr/>
          </p:nvSpPr>
          <p:spPr>
            <a:xfrm>
              <a:off x="2706624" y="2845558"/>
              <a:ext cx="2761488" cy="119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>
                  <a:solidFill>
                    <a:srgbClr val="8899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30</a:t>
              </a:r>
              <a:r>
                <a:rPr lang="ko-KR" altLang="en-US" sz="800">
                  <a:solidFill>
                    <a:srgbClr val="8899A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분</a:t>
              </a:r>
              <a:endParaRPr lang="en-US" sz="800"/>
            </a:p>
          </p:txBody>
        </p:sp>
      </p:grpSp>
      <p:sp>
        <p:nvSpPr>
          <p:cNvPr id="127" name="Text 81">
            <a:extLst>
              <a:ext uri="{FF2B5EF4-FFF2-40B4-BE49-F238E27FC236}">
                <a16:creationId xmlns:a16="http://schemas.microsoft.com/office/drawing/2014/main" id="{0AD7028C-F4DA-4118-8308-3EF8A9FA58ED}"/>
              </a:ext>
            </a:extLst>
          </p:cNvPr>
          <p:cNvSpPr/>
          <p:nvPr/>
        </p:nvSpPr>
        <p:spPr>
          <a:xfrm>
            <a:off x="619759" y="1156715"/>
            <a:ext cx="848600" cy="187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ALERT ]</a:t>
            </a:r>
            <a:endParaRPr lang="en-US" sz="1200">
              <a:solidFill>
                <a:srgbClr val="FF6B35"/>
              </a:solidFill>
            </a:endParaRPr>
          </a:p>
        </p:txBody>
      </p:sp>
      <p:sp>
        <p:nvSpPr>
          <p:cNvPr id="129" name="Text 83">
            <a:extLst>
              <a:ext uri="{FF2B5EF4-FFF2-40B4-BE49-F238E27FC236}">
                <a16:creationId xmlns:a16="http://schemas.microsoft.com/office/drawing/2014/main" id="{7EB84464-90AA-4583-8397-9C4CAFBB6D2F}"/>
              </a:ext>
            </a:extLst>
          </p:cNvPr>
          <p:cNvSpPr/>
          <p:nvPr/>
        </p:nvSpPr>
        <p:spPr>
          <a:xfrm>
            <a:off x="978331" y="1445570"/>
            <a:ext cx="3086177" cy="151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 </a:t>
            </a:r>
            <a:r>
              <a:rPr lang="en-US" sz="800" b="1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금요일</a:t>
            </a:r>
            <a:r>
              <a:rPr lang="en-US" sz="8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800" b="1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오후</a:t>
            </a:r>
            <a:r>
              <a:rPr lang="en-US" sz="8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5시 – </a:t>
            </a:r>
            <a:r>
              <a:rPr lang="ko-KR" altLang="en-US" sz="8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원인</a:t>
            </a:r>
            <a:r>
              <a:rPr lang="en-US" sz="8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8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불명의</a:t>
            </a:r>
            <a:r>
              <a:rPr lang="en-US" altLang="ko-KR" sz="8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altLang="ko-KR" sz="800" b="1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이유로</a:t>
            </a:r>
            <a:r>
              <a:rPr lang="en-US" altLang="ko-KR" sz="8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altLang="ko-KR" sz="800" b="1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인해</a:t>
            </a:r>
            <a:r>
              <a:rPr lang="en-US" sz="8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ko-KR" altLang="en-US" sz="800" b="1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비콘</a:t>
            </a:r>
            <a:r>
              <a:rPr lang="en-US" sz="8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800" b="1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셧다운</a:t>
            </a:r>
            <a:r>
              <a:rPr lang="en-US" sz="8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800" b="1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발생</a:t>
            </a:r>
            <a:endParaRPr lang="en-US" sz="800" b="1">
              <a:latin typeface="Arial"/>
              <a:cs typeface="Arial"/>
            </a:endParaRPr>
          </a:p>
        </p:txBody>
      </p:sp>
      <p:pic>
        <p:nvPicPr>
          <p:cNvPr id="130" name="Picture 3">
            <a:extLst>
              <a:ext uri="{FF2B5EF4-FFF2-40B4-BE49-F238E27FC236}">
                <a16:creationId xmlns:a16="http://schemas.microsoft.com/office/drawing/2014/main" id="{BAC27A0A-ADFC-4AED-B7B1-E7BCDB39B1E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0666" y="1407140"/>
            <a:ext cx="242236" cy="214051"/>
          </a:xfrm>
          <a:prstGeom prst="rect">
            <a:avLst/>
          </a:prstGeom>
        </p:spPr>
      </p:pic>
      <p:sp>
        <p:nvSpPr>
          <p:cNvPr id="140" name="Shape 82">
            <a:extLst>
              <a:ext uri="{FF2B5EF4-FFF2-40B4-BE49-F238E27FC236}">
                <a16:creationId xmlns:a16="http://schemas.microsoft.com/office/drawing/2014/main" id="{17006051-FB4A-4282-A2E6-97516B2F433D}"/>
              </a:ext>
            </a:extLst>
          </p:cNvPr>
          <p:cNvSpPr/>
          <p:nvPr/>
        </p:nvSpPr>
        <p:spPr>
          <a:xfrm>
            <a:off x="4665129" y="1701596"/>
            <a:ext cx="4114800" cy="843929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83">
            <a:extLst>
              <a:ext uri="{FF2B5EF4-FFF2-40B4-BE49-F238E27FC236}">
                <a16:creationId xmlns:a16="http://schemas.microsoft.com/office/drawing/2014/main" id="{868008B1-DCAB-4AE9-83DB-BBAF57AC7467}"/>
              </a:ext>
            </a:extLst>
          </p:cNvPr>
          <p:cNvSpPr/>
          <p:nvPr/>
        </p:nvSpPr>
        <p:spPr>
          <a:xfrm>
            <a:off x="4665129" y="1701596"/>
            <a:ext cx="45720" cy="843929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Text 84">
            <a:extLst>
              <a:ext uri="{FF2B5EF4-FFF2-40B4-BE49-F238E27FC236}">
                <a16:creationId xmlns:a16="http://schemas.microsoft.com/office/drawing/2014/main" id="{511A1E60-6B09-4590-83AF-96D161DFA6D4}"/>
              </a:ext>
            </a:extLst>
          </p:cNvPr>
          <p:cNvSpPr/>
          <p:nvPr/>
        </p:nvSpPr>
        <p:spPr>
          <a:xfrm>
            <a:off x="4848009" y="1747317"/>
            <a:ext cx="1097280" cy="76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FF6B35"/>
                </a:solidFill>
                <a:latin typeface="Courier New" pitchFamily="34" charset="0"/>
                <a:cs typeface="Courier New" pitchFamily="34" charset="-120"/>
              </a:rPr>
              <a:t>3</a:t>
            </a:r>
            <a:endParaRPr lang="en-US" sz="3800">
              <a:solidFill>
                <a:srgbClr val="FF6B35"/>
              </a:solidFill>
            </a:endParaRPr>
          </a:p>
        </p:txBody>
      </p:sp>
      <p:sp>
        <p:nvSpPr>
          <p:cNvPr id="143" name="Shape 85">
            <a:extLst>
              <a:ext uri="{FF2B5EF4-FFF2-40B4-BE49-F238E27FC236}">
                <a16:creationId xmlns:a16="http://schemas.microsoft.com/office/drawing/2014/main" id="{E239976E-CF3D-42D6-900C-8E1309C89248}"/>
              </a:ext>
            </a:extLst>
          </p:cNvPr>
          <p:cNvSpPr/>
          <p:nvPr/>
        </p:nvSpPr>
        <p:spPr>
          <a:xfrm>
            <a:off x="5991009" y="1884476"/>
            <a:ext cx="0" cy="537046"/>
          </a:xfrm>
          <a:prstGeom prst="line">
            <a:avLst/>
          </a:prstGeom>
          <a:noFill/>
          <a:ln w="5080">
            <a:solidFill>
              <a:srgbClr val="FF6B35">
                <a:alpha val="6196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Text 86">
            <a:extLst>
              <a:ext uri="{FF2B5EF4-FFF2-40B4-BE49-F238E27FC236}">
                <a16:creationId xmlns:a16="http://schemas.microsoft.com/office/drawing/2014/main" id="{2E6B9F25-BDF2-4C70-A54E-879C100CB2A5}"/>
              </a:ext>
            </a:extLst>
          </p:cNvPr>
          <p:cNvSpPr/>
          <p:nvPr/>
        </p:nvSpPr>
        <p:spPr>
          <a:xfrm>
            <a:off x="6128169" y="1875486"/>
            <a:ext cx="2468880" cy="230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돌발 이벤트</a:t>
            </a: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수</a:t>
            </a:r>
            <a:endParaRPr lang="en-US" sz="900"/>
          </a:p>
        </p:txBody>
      </p:sp>
      <p:sp>
        <p:nvSpPr>
          <p:cNvPr id="145" name="Text 87">
            <a:extLst>
              <a:ext uri="{FF2B5EF4-FFF2-40B4-BE49-F238E27FC236}">
                <a16:creationId xmlns:a16="http://schemas.microsoft.com/office/drawing/2014/main" id="{B308E3C0-5C8F-46F8-833A-362255729211}"/>
              </a:ext>
            </a:extLst>
          </p:cNvPr>
          <p:cNvSpPr/>
          <p:nvPr/>
        </p:nvSpPr>
        <p:spPr>
          <a:xfrm>
            <a:off x="6135027" y="2044794"/>
            <a:ext cx="2468880" cy="168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endParaRPr lang="en-US" sz="700">
              <a:solidFill>
                <a:srgbClr val="FF6B35"/>
              </a:solidFill>
            </a:endParaRPr>
          </a:p>
        </p:txBody>
      </p:sp>
      <p:sp>
        <p:nvSpPr>
          <p:cNvPr id="146" name="Shape 88">
            <a:extLst>
              <a:ext uri="{FF2B5EF4-FFF2-40B4-BE49-F238E27FC236}">
                <a16:creationId xmlns:a16="http://schemas.microsoft.com/office/drawing/2014/main" id="{D405D42F-2590-4C6B-B32B-3EDD18961117}"/>
              </a:ext>
            </a:extLst>
          </p:cNvPr>
          <p:cNvSpPr/>
          <p:nvPr/>
        </p:nvSpPr>
        <p:spPr>
          <a:xfrm>
            <a:off x="6128169" y="2213580"/>
            <a:ext cx="2468880" cy="243188"/>
          </a:xfrm>
          <a:prstGeom prst="rect">
            <a:avLst/>
          </a:prstGeom>
          <a:solidFill>
            <a:srgbClr val="0D1A26"/>
          </a:solidFill>
          <a:ln w="5080">
            <a:solidFill>
              <a:srgbClr val="2233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Text 89">
            <a:extLst>
              <a:ext uri="{FF2B5EF4-FFF2-40B4-BE49-F238E27FC236}">
                <a16:creationId xmlns:a16="http://schemas.microsoft.com/office/drawing/2014/main" id="{A9DE725B-2C9C-4ED3-942B-5EC00B82A097}"/>
              </a:ext>
            </a:extLst>
          </p:cNvPr>
          <p:cNvSpPr/>
          <p:nvPr/>
        </p:nvSpPr>
        <p:spPr>
          <a:xfrm>
            <a:off x="6128169" y="2193086"/>
            <a:ext cx="2468880" cy="29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chemeClr val="bg1">
                    <a:lumMod val="75000"/>
                  </a:schemeClr>
                </a:solidFill>
              </a:rPr>
              <a:t>교육 내용 복습을 위한 </a:t>
            </a:r>
            <a:r>
              <a:rPr lang="en-US" altLang="ko-KR" sz="900">
                <a:solidFill>
                  <a:schemeClr val="bg1">
                    <a:lumMod val="75000"/>
                  </a:schemeClr>
                </a:solidFill>
              </a:rPr>
              <a:t>3</a:t>
            </a:r>
            <a:r>
              <a:rPr lang="ko-KR" altLang="en-US" sz="900">
                <a:solidFill>
                  <a:schemeClr val="bg1">
                    <a:lumMod val="75000"/>
                  </a:schemeClr>
                </a:solidFill>
              </a:rPr>
              <a:t>개의 돌발 이벤트</a:t>
            </a:r>
            <a:endParaRPr lang="en-US" sz="9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8" name="Shape 82">
            <a:extLst>
              <a:ext uri="{FF2B5EF4-FFF2-40B4-BE49-F238E27FC236}">
                <a16:creationId xmlns:a16="http://schemas.microsoft.com/office/drawing/2014/main" id="{F3DB63B4-0827-4D9C-BE1D-62613EC44D59}"/>
              </a:ext>
            </a:extLst>
          </p:cNvPr>
          <p:cNvSpPr/>
          <p:nvPr/>
        </p:nvSpPr>
        <p:spPr>
          <a:xfrm>
            <a:off x="4665129" y="2667404"/>
            <a:ext cx="4114800" cy="843929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83">
            <a:extLst>
              <a:ext uri="{FF2B5EF4-FFF2-40B4-BE49-F238E27FC236}">
                <a16:creationId xmlns:a16="http://schemas.microsoft.com/office/drawing/2014/main" id="{1C88DC32-5D8E-4ED9-9E35-B9F56C6AB072}"/>
              </a:ext>
            </a:extLst>
          </p:cNvPr>
          <p:cNvSpPr/>
          <p:nvPr/>
        </p:nvSpPr>
        <p:spPr>
          <a:xfrm>
            <a:off x="4665129" y="2667404"/>
            <a:ext cx="45720" cy="843929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Text 84">
            <a:extLst>
              <a:ext uri="{FF2B5EF4-FFF2-40B4-BE49-F238E27FC236}">
                <a16:creationId xmlns:a16="http://schemas.microsoft.com/office/drawing/2014/main" id="{0DB7F48A-C12C-4A3E-A824-25BB4EBA4888}"/>
              </a:ext>
            </a:extLst>
          </p:cNvPr>
          <p:cNvSpPr/>
          <p:nvPr/>
        </p:nvSpPr>
        <p:spPr>
          <a:xfrm>
            <a:off x="4848009" y="2713125"/>
            <a:ext cx="1097280" cy="76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00E5FF"/>
                </a:solidFill>
                <a:latin typeface="Courier New" pitchFamily="34" charset="0"/>
                <a:cs typeface="Courier New" pitchFamily="34" charset="-120"/>
              </a:rPr>
              <a:t>5</a:t>
            </a:r>
            <a:endParaRPr lang="en-US" sz="3800"/>
          </a:p>
        </p:txBody>
      </p:sp>
      <p:sp>
        <p:nvSpPr>
          <p:cNvPr id="151" name="Shape 85">
            <a:extLst>
              <a:ext uri="{FF2B5EF4-FFF2-40B4-BE49-F238E27FC236}">
                <a16:creationId xmlns:a16="http://schemas.microsoft.com/office/drawing/2014/main" id="{7352FB6E-86E5-4A80-AF4B-F4FA73CF40C1}"/>
              </a:ext>
            </a:extLst>
          </p:cNvPr>
          <p:cNvSpPr/>
          <p:nvPr/>
        </p:nvSpPr>
        <p:spPr>
          <a:xfrm>
            <a:off x="5991009" y="2850284"/>
            <a:ext cx="0" cy="537046"/>
          </a:xfrm>
          <a:prstGeom prst="line">
            <a:avLst/>
          </a:prstGeom>
          <a:noFill/>
          <a:ln w="508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2" name="Text 86">
            <a:extLst>
              <a:ext uri="{FF2B5EF4-FFF2-40B4-BE49-F238E27FC236}">
                <a16:creationId xmlns:a16="http://schemas.microsoft.com/office/drawing/2014/main" id="{740F45A2-06CF-4A70-A0E9-ABD6C41AEF5C}"/>
              </a:ext>
            </a:extLst>
          </p:cNvPr>
          <p:cNvSpPr/>
          <p:nvPr/>
        </p:nvSpPr>
        <p:spPr>
          <a:xfrm>
            <a:off x="6135027" y="2809276"/>
            <a:ext cx="2468880" cy="230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</a:t>
            </a: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수</a:t>
            </a:r>
            <a:endParaRPr lang="en-US" sz="900"/>
          </a:p>
        </p:txBody>
      </p:sp>
      <p:sp>
        <p:nvSpPr>
          <p:cNvPr id="153" name="Text 87">
            <a:extLst>
              <a:ext uri="{FF2B5EF4-FFF2-40B4-BE49-F238E27FC236}">
                <a16:creationId xmlns:a16="http://schemas.microsoft.com/office/drawing/2014/main" id="{F4A3C673-9C7F-4E28-BF77-AE4E77DB9C03}"/>
              </a:ext>
            </a:extLst>
          </p:cNvPr>
          <p:cNvSpPr/>
          <p:nvPr/>
        </p:nvSpPr>
        <p:spPr>
          <a:xfrm>
            <a:off x="6135027" y="2969961"/>
            <a:ext cx="2468880" cy="168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TEAMS</a:t>
            </a:r>
            <a:endParaRPr lang="en-US" sz="700"/>
          </a:p>
        </p:txBody>
      </p:sp>
      <p:sp>
        <p:nvSpPr>
          <p:cNvPr id="154" name="Shape 88">
            <a:extLst>
              <a:ext uri="{FF2B5EF4-FFF2-40B4-BE49-F238E27FC236}">
                <a16:creationId xmlns:a16="http://schemas.microsoft.com/office/drawing/2014/main" id="{1A379BE7-2984-4186-A2A7-DD4D1C1B6BB1}"/>
              </a:ext>
            </a:extLst>
          </p:cNvPr>
          <p:cNvSpPr/>
          <p:nvPr/>
        </p:nvSpPr>
        <p:spPr>
          <a:xfrm>
            <a:off x="6135027" y="3141540"/>
            <a:ext cx="2468880" cy="243188"/>
          </a:xfrm>
          <a:prstGeom prst="rect">
            <a:avLst/>
          </a:prstGeom>
          <a:solidFill>
            <a:srgbClr val="0D1A26"/>
          </a:solidFill>
          <a:ln w="5080">
            <a:solidFill>
              <a:srgbClr val="2233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5" name="Text 89">
            <a:extLst>
              <a:ext uri="{FF2B5EF4-FFF2-40B4-BE49-F238E27FC236}">
                <a16:creationId xmlns:a16="http://schemas.microsoft.com/office/drawing/2014/main" id="{C6855E0C-66F1-4438-B284-A8AF6639DC60}"/>
              </a:ext>
            </a:extLst>
          </p:cNvPr>
          <p:cNvSpPr/>
          <p:nvPr/>
        </p:nvSpPr>
        <p:spPr>
          <a:xfrm>
            <a:off x="6128169" y="3114444"/>
            <a:ext cx="2468880" cy="29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chemeClr val="bg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C</a:t>
            </a:r>
            <a:r>
              <a:rPr lang="ko-KR" altLang="en-US" sz="900">
                <a:solidFill>
                  <a:schemeClr val="bg1">
                    <a:lumMod val="75000"/>
                  </a:schemeClr>
                </a:solidFill>
                <a:latin typeface="Arial" pitchFamily="34" charset="0"/>
                <a:cs typeface="Arial" pitchFamily="34" charset="-120"/>
              </a:rPr>
              <a:t>반 전체 팀이 함께 경쟁하는 게임</a:t>
            </a:r>
            <a:endParaRPr lang="en-US" sz="9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6" name="Shape 82">
            <a:extLst>
              <a:ext uri="{FF2B5EF4-FFF2-40B4-BE49-F238E27FC236}">
                <a16:creationId xmlns:a16="http://schemas.microsoft.com/office/drawing/2014/main" id="{D3DF9615-C9A6-47B7-8143-89B516C9A3C4}"/>
              </a:ext>
            </a:extLst>
          </p:cNvPr>
          <p:cNvSpPr/>
          <p:nvPr/>
        </p:nvSpPr>
        <p:spPr>
          <a:xfrm>
            <a:off x="4661751" y="3649077"/>
            <a:ext cx="4114800" cy="843929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Shape 83">
            <a:extLst>
              <a:ext uri="{FF2B5EF4-FFF2-40B4-BE49-F238E27FC236}">
                <a16:creationId xmlns:a16="http://schemas.microsoft.com/office/drawing/2014/main" id="{FB401396-22A1-413E-ACC8-10D31A380DF1}"/>
              </a:ext>
            </a:extLst>
          </p:cNvPr>
          <p:cNvSpPr/>
          <p:nvPr/>
        </p:nvSpPr>
        <p:spPr>
          <a:xfrm>
            <a:off x="4661751" y="3649077"/>
            <a:ext cx="45720" cy="843929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8" name="Text 84">
            <a:extLst>
              <a:ext uri="{FF2B5EF4-FFF2-40B4-BE49-F238E27FC236}">
                <a16:creationId xmlns:a16="http://schemas.microsoft.com/office/drawing/2014/main" id="{1DDC29AD-5D40-4670-A797-EB06D80F0B7D}"/>
              </a:ext>
            </a:extLst>
          </p:cNvPr>
          <p:cNvSpPr/>
          <p:nvPr/>
        </p:nvSpPr>
        <p:spPr>
          <a:xfrm>
            <a:off x="4844631" y="3694798"/>
            <a:ext cx="1097280" cy="76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>
                <a:solidFill>
                  <a:srgbClr val="FF6B35"/>
                </a:solidFill>
              </a:rPr>
              <a:t>30</a:t>
            </a:r>
          </a:p>
        </p:txBody>
      </p:sp>
      <p:sp>
        <p:nvSpPr>
          <p:cNvPr id="159" name="Shape 85">
            <a:extLst>
              <a:ext uri="{FF2B5EF4-FFF2-40B4-BE49-F238E27FC236}">
                <a16:creationId xmlns:a16="http://schemas.microsoft.com/office/drawing/2014/main" id="{AF8C1C1E-50C3-4629-A8FE-B7CB3EA6D2B9}"/>
              </a:ext>
            </a:extLst>
          </p:cNvPr>
          <p:cNvSpPr/>
          <p:nvPr/>
        </p:nvSpPr>
        <p:spPr>
          <a:xfrm>
            <a:off x="5987631" y="3831957"/>
            <a:ext cx="0" cy="537046"/>
          </a:xfrm>
          <a:prstGeom prst="line">
            <a:avLst/>
          </a:prstGeom>
          <a:noFill/>
          <a:ln w="5080">
            <a:solidFill>
              <a:srgbClr val="FF6B35">
                <a:alpha val="6392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Text 86">
            <a:extLst>
              <a:ext uri="{FF2B5EF4-FFF2-40B4-BE49-F238E27FC236}">
                <a16:creationId xmlns:a16="http://schemas.microsoft.com/office/drawing/2014/main" id="{A86A2BAC-AAB2-41B2-9697-01202469B4FA}"/>
              </a:ext>
            </a:extLst>
          </p:cNvPr>
          <p:cNvSpPr/>
          <p:nvPr/>
        </p:nvSpPr>
        <p:spPr>
          <a:xfrm>
            <a:off x="6124791" y="3803745"/>
            <a:ext cx="2468880" cy="230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제한 시간</a:t>
            </a:r>
            <a:endParaRPr lang="en-US" sz="900"/>
          </a:p>
        </p:txBody>
      </p:sp>
      <p:sp>
        <p:nvSpPr>
          <p:cNvPr id="161" name="Text 87">
            <a:extLst>
              <a:ext uri="{FF2B5EF4-FFF2-40B4-BE49-F238E27FC236}">
                <a16:creationId xmlns:a16="http://schemas.microsoft.com/office/drawing/2014/main" id="{5B8E1DE8-03F3-4C6C-B41D-361D92AE7EDE}"/>
              </a:ext>
            </a:extLst>
          </p:cNvPr>
          <p:cNvSpPr/>
          <p:nvPr/>
        </p:nvSpPr>
        <p:spPr>
          <a:xfrm>
            <a:off x="6131649" y="3946014"/>
            <a:ext cx="2468880" cy="168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r>
              <a:rPr lang="ko-KR" altLang="en-US" sz="70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ko-KR" sz="70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endParaRPr lang="en-US" sz="700">
              <a:solidFill>
                <a:srgbClr val="FF6B35"/>
              </a:solidFill>
            </a:endParaRPr>
          </a:p>
        </p:txBody>
      </p:sp>
      <p:sp>
        <p:nvSpPr>
          <p:cNvPr id="162" name="Shape 88">
            <a:extLst>
              <a:ext uri="{FF2B5EF4-FFF2-40B4-BE49-F238E27FC236}">
                <a16:creationId xmlns:a16="http://schemas.microsoft.com/office/drawing/2014/main" id="{D7D3CA1C-FA7E-4B96-BD90-B46DE0BFF72B}"/>
              </a:ext>
            </a:extLst>
          </p:cNvPr>
          <p:cNvSpPr/>
          <p:nvPr/>
        </p:nvSpPr>
        <p:spPr>
          <a:xfrm>
            <a:off x="6131649" y="4117497"/>
            <a:ext cx="2468880" cy="243188"/>
          </a:xfrm>
          <a:prstGeom prst="rect">
            <a:avLst/>
          </a:prstGeom>
          <a:solidFill>
            <a:srgbClr val="0D1A26"/>
          </a:solidFill>
          <a:ln w="5080">
            <a:solidFill>
              <a:srgbClr val="2233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3" name="Text 89">
            <a:extLst>
              <a:ext uri="{FF2B5EF4-FFF2-40B4-BE49-F238E27FC236}">
                <a16:creationId xmlns:a16="http://schemas.microsoft.com/office/drawing/2014/main" id="{0D28C302-6286-4389-9654-98265B44C3D8}"/>
              </a:ext>
            </a:extLst>
          </p:cNvPr>
          <p:cNvSpPr/>
          <p:nvPr/>
        </p:nvSpPr>
        <p:spPr>
          <a:xfrm>
            <a:off x="6124791" y="4102467"/>
            <a:ext cx="2468880" cy="29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종료 시간까지 퇴실을 완료해라</a:t>
            </a:r>
            <a:r>
              <a:rPr lang="en-US" altLang="ko-KR" sz="90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90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5DD1E435-BBAC-4980-86E2-76F3F834B569}"/>
              </a:ext>
            </a:extLst>
          </p:cNvPr>
          <p:cNvGrpSpPr/>
          <p:nvPr/>
        </p:nvGrpSpPr>
        <p:grpSpPr>
          <a:xfrm>
            <a:off x="2148841" y="2807746"/>
            <a:ext cx="1675584" cy="1223040"/>
            <a:chOff x="2103936" y="2658588"/>
            <a:chExt cx="1675584" cy="1223040"/>
          </a:xfrm>
        </p:grpSpPr>
        <p:sp>
          <p:nvSpPr>
            <p:cNvPr id="166" name="Shape 82">
              <a:extLst>
                <a:ext uri="{FF2B5EF4-FFF2-40B4-BE49-F238E27FC236}">
                  <a16:creationId xmlns:a16="http://schemas.microsoft.com/office/drawing/2014/main" id="{C08A8BDB-BFDD-42C7-8AD3-F87786223D28}"/>
                </a:ext>
              </a:extLst>
            </p:cNvPr>
            <p:cNvSpPr/>
            <p:nvPr/>
          </p:nvSpPr>
          <p:spPr>
            <a:xfrm>
              <a:off x="2103936" y="2658588"/>
              <a:ext cx="1675584" cy="1223040"/>
            </a:xfrm>
            <a:prstGeom prst="rect">
              <a:avLst/>
            </a:prstGeom>
            <a:solidFill>
              <a:srgbClr val="030C18"/>
            </a:solidFill>
            <a:ln w="6350">
              <a:solidFill>
                <a:srgbClr val="00E5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039248FE-8466-4F24-8801-56FE618B87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6196" y="2743153"/>
              <a:ext cx="1552790" cy="107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DE84E6BB-79D9-4D8F-96DA-286018601F7D}"/>
              </a:ext>
            </a:extLst>
          </p:cNvPr>
          <p:cNvGrpSpPr/>
          <p:nvPr/>
        </p:nvGrpSpPr>
        <p:grpSpPr>
          <a:xfrm>
            <a:off x="948477" y="2565782"/>
            <a:ext cx="1024342" cy="1734184"/>
            <a:chOff x="903572" y="2476628"/>
            <a:chExt cx="1024342" cy="1734184"/>
          </a:xfrm>
        </p:grpSpPr>
        <p:sp>
          <p:nvSpPr>
            <p:cNvPr id="167" name="Shape 82">
              <a:extLst>
                <a:ext uri="{FF2B5EF4-FFF2-40B4-BE49-F238E27FC236}">
                  <a16:creationId xmlns:a16="http://schemas.microsoft.com/office/drawing/2014/main" id="{FCFD3574-2D3E-4839-B156-5AB914CABDAA}"/>
                </a:ext>
              </a:extLst>
            </p:cNvPr>
            <p:cNvSpPr/>
            <p:nvPr/>
          </p:nvSpPr>
          <p:spPr>
            <a:xfrm>
              <a:off x="903572" y="2476628"/>
              <a:ext cx="1024342" cy="1734184"/>
            </a:xfrm>
            <a:prstGeom prst="rect">
              <a:avLst/>
            </a:prstGeom>
            <a:solidFill>
              <a:srgbClr val="030C18"/>
            </a:solidFill>
            <a:ln w="6350">
              <a:solidFill>
                <a:srgbClr val="00E5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7F07AF84-5195-4B00-9C25-AC63087367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54" b="11699"/>
            <a:stretch/>
          </p:blipFill>
          <p:spPr bwMode="auto">
            <a:xfrm>
              <a:off x="955716" y="2520193"/>
              <a:ext cx="927948" cy="1639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28016" y="128016"/>
            <a:ext cx="8887968" cy="4887468"/>
          </a:xfrm>
          <a:prstGeom prst="rect">
            <a:avLst/>
          </a:prstGeom>
          <a:ln w="889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28016" y="128016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28016" y="1280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5156" y="105156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8814816" y="128016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9015984" y="1280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8993124" y="105156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28016" y="5015484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128016" y="48143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05156" y="4992624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8814816" y="5015484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015984" y="48143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8993124" y="4992624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128016" y="128016"/>
            <a:ext cx="8887968" cy="256032"/>
          </a:xfrm>
          <a:prstGeom prst="rect">
            <a:avLst/>
          </a:prstGeom>
          <a:solidFill>
            <a:srgbClr val="050D14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365760" y="164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ESCAPE ·  PROJECT REPORT</a:t>
            </a:r>
            <a:endParaRPr lang="en-US" sz="600"/>
          </a:p>
        </p:txBody>
      </p:sp>
      <p:sp>
        <p:nvSpPr>
          <p:cNvPr id="71" name="Text 69"/>
          <p:cNvSpPr/>
          <p:nvPr/>
        </p:nvSpPr>
        <p:spPr>
          <a:xfrm>
            <a:off x="5120640" y="164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주제 및 결과 요약</a:t>
            </a:r>
            <a:endParaRPr lang="en-US" sz="550"/>
          </a:p>
        </p:txBody>
      </p:sp>
      <p:sp>
        <p:nvSpPr>
          <p:cNvPr id="72" name="Shape 70"/>
          <p:cNvSpPr/>
          <p:nvPr/>
        </p:nvSpPr>
        <p:spPr>
          <a:xfrm>
            <a:off x="128016" y="4759452"/>
            <a:ext cx="8887968" cy="256032"/>
          </a:xfrm>
          <a:prstGeom prst="rect">
            <a:avLst/>
          </a:prstGeom>
          <a:solidFill>
            <a:srgbClr val="050D14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28016" y="4759452"/>
            <a:ext cx="8887968" cy="0"/>
          </a:xfrm>
          <a:prstGeom prst="line">
            <a:avLst/>
          </a:prstGeom>
          <a:noFill/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365760" y="47594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>
                <a:solidFill>
                  <a:srgbClr val="223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 SW BOOTCAMP · 2026</a:t>
            </a:r>
            <a:endParaRPr lang="en-US" sz="600"/>
          </a:p>
        </p:txBody>
      </p:sp>
      <p:sp>
        <p:nvSpPr>
          <p:cNvPr id="75" name="Text 73"/>
          <p:cNvSpPr/>
          <p:nvPr/>
        </p:nvSpPr>
        <p:spPr>
          <a:xfrm>
            <a:off x="3200400" y="47594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/>
          </a:p>
        </p:txBody>
      </p:sp>
      <p:sp>
        <p:nvSpPr>
          <p:cNvPr id="76" name="Text 74"/>
          <p:cNvSpPr/>
          <p:nvPr/>
        </p:nvSpPr>
        <p:spPr>
          <a:xfrm>
            <a:off x="365760" y="4754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</a:t>
            </a:r>
            <a:r>
              <a:rPr lang="ko-KR" altLang="en-US" sz="7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프로젝트 배경</a:t>
            </a:r>
            <a:endParaRPr lang="en-US" sz="700"/>
          </a:p>
        </p:txBody>
      </p:sp>
      <p:sp>
        <p:nvSpPr>
          <p:cNvPr id="77" name="Shape 75"/>
          <p:cNvSpPr/>
          <p:nvPr/>
        </p:nvSpPr>
        <p:spPr>
          <a:xfrm>
            <a:off x="1225296" y="557784"/>
            <a:ext cx="7552944" cy="0"/>
          </a:xfrm>
          <a:prstGeom prst="line">
            <a:avLst/>
          </a:prstGeom>
          <a:noFill/>
          <a:ln w="508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358428" y="765303"/>
            <a:ext cx="3236978" cy="3543302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496951" y="818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err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프로젝트</a:t>
            </a:r>
            <a:r>
              <a:rPr lang="en-US" sz="9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ko-KR" altLang="en-US" sz="9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배경 및 목적</a:t>
            </a:r>
            <a:endParaRPr lang="en-US" sz="900"/>
          </a:p>
        </p:txBody>
      </p:sp>
      <p:sp>
        <p:nvSpPr>
          <p:cNvPr id="81" name="Shape 79"/>
          <p:cNvSpPr/>
          <p:nvPr/>
        </p:nvSpPr>
        <p:spPr>
          <a:xfrm flipV="1">
            <a:off x="486444" y="1076198"/>
            <a:ext cx="2859024" cy="0"/>
          </a:xfrm>
          <a:prstGeom prst="line">
            <a:avLst/>
          </a:prstGeom>
          <a:noFill/>
          <a:ln w="508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486443" y="1121918"/>
            <a:ext cx="2859025" cy="3008377"/>
          </a:xfrm>
          <a:prstGeom prst="rect">
            <a:avLst/>
          </a:prstGeom>
          <a:solidFill>
            <a:srgbClr val="0D1A26"/>
          </a:solidFill>
          <a:ln w="5080">
            <a:solidFill>
              <a:srgbClr val="2233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93776" y="1051560"/>
            <a:ext cx="3794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/>
          </a:p>
        </p:txBody>
      </p:sp>
      <p:sp>
        <p:nvSpPr>
          <p:cNvPr id="84" name="Shape 82"/>
          <p:cNvSpPr/>
          <p:nvPr/>
        </p:nvSpPr>
        <p:spPr>
          <a:xfrm>
            <a:off x="3749040" y="687452"/>
            <a:ext cx="5029199" cy="632206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3759927" y="693801"/>
            <a:ext cx="80553" cy="63220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3871250" y="749808"/>
            <a:ext cx="600165" cy="500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00E5FF"/>
                </a:solidFill>
                <a:latin typeface="Courier New" pitchFamily="34" charset="0"/>
                <a:cs typeface="Courier New" pitchFamily="34" charset="-120"/>
              </a:rPr>
              <a:t>1</a:t>
            </a:r>
            <a:endParaRPr lang="en-US" sz="3800"/>
          </a:p>
        </p:txBody>
      </p:sp>
      <p:sp>
        <p:nvSpPr>
          <p:cNvPr id="87" name="Shape 85"/>
          <p:cNvSpPr/>
          <p:nvPr/>
        </p:nvSpPr>
        <p:spPr>
          <a:xfrm>
            <a:off x="4457445" y="804682"/>
            <a:ext cx="0" cy="402313"/>
          </a:xfrm>
          <a:prstGeom prst="line">
            <a:avLst/>
          </a:prstGeom>
          <a:noFill/>
          <a:ln w="508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4574793" y="935129"/>
            <a:ext cx="3913630" cy="172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‘L-</a:t>
            </a:r>
            <a:r>
              <a:rPr lang="en-US" altLang="ko-KR" sz="105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Gorithm</a:t>
            </a:r>
            <a:r>
              <a:rPr lang="en-US" altLang="ko-KR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ko-KR" altLang="en-US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의 부활 </a:t>
            </a:r>
            <a:r>
              <a:rPr lang="en-US" altLang="ko-KR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“</a:t>
            </a:r>
            <a:r>
              <a:rPr lang="ko-KR" altLang="en-US" sz="105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인화원</a:t>
            </a:r>
            <a:r>
              <a:rPr lang="ko-KR" altLang="en-US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최고 인기 미션</a:t>
            </a:r>
            <a:r>
              <a:rPr lang="en-US" altLang="ko-KR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ko-KR" altLang="en-US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을 </a:t>
            </a:r>
            <a:r>
              <a:rPr lang="en-US" altLang="ko-KR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ko-KR" altLang="en-US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부트캠프</a:t>
            </a:r>
            <a:r>
              <a:rPr lang="en-US" altLang="ko-KR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ko-KR" altLang="en-US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에서</a:t>
            </a:r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 73">
            <a:extLst>
              <a:ext uri="{FF2B5EF4-FFF2-40B4-BE49-F238E27FC236}">
                <a16:creationId xmlns:a16="http://schemas.microsoft.com/office/drawing/2014/main" id="{EE0C5F27-854F-4B11-9A1D-2506804A837F}"/>
              </a:ext>
            </a:extLst>
          </p:cNvPr>
          <p:cNvSpPr/>
          <p:nvPr/>
        </p:nvSpPr>
        <p:spPr>
          <a:xfrm>
            <a:off x="3352800" y="476580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80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HRD_ERROR_404</a:t>
            </a:r>
            <a:endParaRPr lang="en-US" altLang="ko-KR" sz="800">
              <a:solidFill>
                <a:srgbClr val="00E5FF"/>
              </a:solidFill>
            </a:endParaRPr>
          </a:p>
        </p:txBody>
      </p:sp>
      <p:sp>
        <p:nvSpPr>
          <p:cNvPr id="127" name="Text 81">
            <a:extLst>
              <a:ext uri="{FF2B5EF4-FFF2-40B4-BE49-F238E27FC236}">
                <a16:creationId xmlns:a16="http://schemas.microsoft.com/office/drawing/2014/main" id="{0AD7028C-F4DA-4118-8308-3EF8A9FA58ED}"/>
              </a:ext>
            </a:extLst>
          </p:cNvPr>
          <p:cNvSpPr/>
          <p:nvPr/>
        </p:nvSpPr>
        <p:spPr>
          <a:xfrm>
            <a:off x="649007" y="1256641"/>
            <a:ext cx="1263901" cy="187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L-</a:t>
            </a:r>
            <a:r>
              <a:rPr lang="en-US" sz="1200" b="1" err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Gorithm</a:t>
            </a:r>
            <a:r>
              <a:rPr lang="en-US" sz="12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</a:t>
            </a:r>
            <a:endParaRPr lang="en-US" sz="1200">
              <a:solidFill>
                <a:srgbClr val="00E5FF"/>
              </a:solidFill>
            </a:endParaRPr>
          </a:p>
        </p:txBody>
      </p:sp>
      <p:pic>
        <p:nvPicPr>
          <p:cNvPr id="2052" name="Picture 4" descr="A">
            <a:extLst>
              <a:ext uri="{FF2B5EF4-FFF2-40B4-BE49-F238E27FC236}">
                <a16:creationId xmlns:a16="http://schemas.microsoft.com/office/drawing/2014/main" id="{5EB221A7-D3DC-4463-95B0-D0BBA36C44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00" t="722"/>
          <a:stretch/>
        </p:blipFill>
        <p:spPr bwMode="auto">
          <a:xfrm>
            <a:off x="652549" y="1579118"/>
            <a:ext cx="2570999" cy="152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6" name="Shape 82">
            <a:extLst>
              <a:ext uri="{FF2B5EF4-FFF2-40B4-BE49-F238E27FC236}">
                <a16:creationId xmlns:a16="http://schemas.microsoft.com/office/drawing/2014/main" id="{5D3F4304-98BC-444C-84A1-11DB8A9CC80A}"/>
              </a:ext>
            </a:extLst>
          </p:cNvPr>
          <p:cNvSpPr/>
          <p:nvPr/>
        </p:nvSpPr>
        <p:spPr>
          <a:xfrm>
            <a:off x="3749040" y="1461515"/>
            <a:ext cx="5029199" cy="632206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83">
            <a:extLst>
              <a:ext uri="{FF2B5EF4-FFF2-40B4-BE49-F238E27FC236}">
                <a16:creationId xmlns:a16="http://schemas.microsoft.com/office/drawing/2014/main" id="{24F491FC-6EE8-40C3-B70A-04F202C334D4}"/>
              </a:ext>
            </a:extLst>
          </p:cNvPr>
          <p:cNvSpPr/>
          <p:nvPr/>
        </p:nvSpPr>
        <p:spPr>
          <a:xfrm>
            <a:off x="3759927" y="1467864"/>
            <a:ext cx="80553" cy="63220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Text 84">
            <a:extLst>
              <a:ext uri="{FF2B5EF4-FFF2-40B4-BE49-F238E27FC236}">
                <a16:creationId xmlns:a16="http://schemas.microsoft.com/office/drawing/2014/main" id="{5F56F5F6-062F-491F-B410-7C118498F71A}"/>
              </a:ext>
            </a:extLst>
          </p:cNvPr>
          <p:cNvSpPr/>
          <p:nvPr/>
        </p:nvSpPr>
        <p:spPr>
          <a:xfrm>
            <a:off x="3871250" y="1523871"/>
            <a:ext cx="600165" cy="500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00E5FF"/>
                </a:solidFill>
                <a:latin typeface="Courier New" pitchFamily="34" charset="0"/>
                <a:cs typeface="Courier New" pitchFamily="34" charset="-120"/>
              </a:rPr>
              <a:t>2</a:t>
            </a:r>
            <a:endParaRPr lang="en-US" sz="3800"/>
          </a:p>
        </p:txBody>
      </p:sp>
      <p:sp>
        <p:nvSpPr>
          <p:cNvPr id="139" name="Shape 85">
            <a:extLst>
              <a:ext uri="{FF2B5EF4-FFF2-40B4-BE49-F238E27FC236}">
                <a16:creationId xmlns:a16="http://schemas.microsoft.com/office/drawing/2014/main" id="{42F435B5-622C-4574-BA01-79DDF15AC869}"/>
              </a:ext>
            </a:extLst>
          </p:cNvPr>
          <p:cNvSpPr/>
          <p:nvPr/>
        </p:nvSpPr>
        <p:spPr>
          <a:xfrm>
            <a:off x="4457445" y="1578745"/>
            <a:ext cx="0" cy="402313"/>
          </a:xfrm>
          <a:prstGeom prst="line">
            <a:avLst/>
          </a:prstGeom>
          <a:noFill/>
          <a:ln w="508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9" name="Shape 82">
            <a:extLst>
              <a:ext uri="{FF2B5EF4-FFF2-40B4-BE49-F238E27FC236}">
                <a16:creationId xmlns:a16="http://schemas.microsoft.com/office/drawing/2014/main" id="{2E0B53E1-1C87-45A3-B8A8-C423631B9E35}"/>
              </a:ext>
            </a:extLst>
          </p:cNvPr>
          <p:cNvSpPr/>
          <p:nvPr/>
        </p:nvSpPr>
        <p:spPr>
          <a:xfrm>
            <a:off x="3749040" y="2229484"/>
            <a:ext cx="5029199" cy="632206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0" name="Shape 83">
            <a:extLst>
              <a:ext uri="{FF2B5EF4-FFF2-40B4-BE49-F238E27FC236}">
                <a16:creationId xmlns:a16="http://schemas.microsoft.com/office/drawing/2014/main" id="{255BA78A-E83C-4881-9227-10649555CD39}"/>
              </a:ext>
            </a:extLst>
          </p:cNvPr>
          <p:cNvSpPr/>
          <p:nvPr/>
        </p:nvSpPr>
        <p:spPr>
          <a:xfrm>
            <a:off x="3759927" y="2235833"/>
            <a:ext cx="80553" cy="63220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1" name="Text 84">
            <a:extLst>
              <a:ext uri="{FF2B5EF4-FFF2-40B4-BE49-F238E27FC236}">
                <a16:creationId xmlns:a16="http://schemas.microsoft.com/office/drawing/2014/main" id="{E2745BB7-3021-46E5-B55D-7462A6FEE9A8}"/>
              </a:ext>
            </a:extLst>
          </p:cNvPr>
          <p:cNvSpPr/>
          <p:nvPr/>
        </p:nvSpPr>
        <p:spPr>
          <a:xfrm>
            <a:off x="3871250" y="2291840"/>
            <a:ext cx="600165" cy="500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00E5FF"/>
                </a:solidFill>
                <a:latin typeface="Courier New" pitchFamily="34" charset="0"/>
                <a:cs typeface="Courier New" pitchFamily="34" charset="-120"/>
              </a:rPr>
              <a:t>3</a:t>
            </a:r>
            <a:endParaRPr lang="en-US" sz="3800"/>
          </a:p>
        </p:txBody>
      </p:sp>
      <p:sp>
        <p:nvSpPr>
          <p:cNvPr id="172" name="Shape 85">
            <a:extLst>
              <a:ext uri="{FF2B5EF4-FFF2-40B4-BE49-F238E27FC236}">
                <a16:creationId xmlns:a16="http://schemas.microsoft.com/office/drawing/2014/main" id="{C5FF7651-9D86-48FD-8622-9C8C82BADD36}"/>
              </a:ext>
            </a:extLst>
          </p:cNvPr>
          <p:cNvSpPr/>
          <p:nvPr/>
        </p:nvSpPr>
        <p:spPr>
          <a:xfrm>
            <a:off x="4457445" y="2346714"/>
            <a:ext cx="0" cy="402313"/>
          </a:xfrm>
          <a:prstGeom prst="line">
            <a:avLst/>
          </a:prstGeom>
          <a:noFill/>
          <a:ln w="508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 82">
            <a:extLst>
              <a:ext uri="{FF2B5EF4-FFF2-40B4-BE49-F238E27FC236}">
                <a16:creationId xmlns:a16="http://schemas.microsoft.com/office/drawing/2014/main" id="{D6E69520-92BA-42ED-8701-D7642793B9A7}"/>
              </a:ext>
            </a:extLst>
          </p:cNvPr>
          <p:cNvSpPr/>
          <p:nvPr/>
        </p:nvSpPr>
        <p:spPr>
          <a:xfrm>
            <a:off x="3749040" y="2972435"/>
            <a:ext cx="5029199" cy="632206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Shape 83">
            <a:extLst>
              <a:ext uri="{FF2B5EF4-FFF2-40B4-BE49-F238E27FC236}">
                <a16:creationId xmlns:a16="http://schemas.microsoft.com/office/drawing/2014/main" id="{30E8BCD3-7BD5-4D55-94C5-DF93D270DA2C}"/>
              </a:ext>
            </a:extLst>
          </p:cNvPr>
          <p:cNvSpPr/>
          <p:nvPr/>
        </p:nvSpPr>
        <p:spPr>
          <a:xfrm>
            <a:off x="3759927" y="2978784"/>
            <a:ext cx="80553" cy="63220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6" name="Text 84">
            <a:extLst>
              <a:ext uri="{FF2B5EF4-FFF2-40B4-BE49-F238E27FC236}">
                <a16:creationId xmlns:a16="http://schemas.microsoft.com/office/drawing/2014/main" id="{B807A485-FB8B-4A40-8818-15EEB866F015}"/>
              </a:ext>
            </a:extLst>
          </p:cNvPr>
          <p:cNvSpPr/>
          <p:nvPr/>
        </p:nvSpPr>
        <p:spPr>
          <a:xfrm>
            <a:off x="3871250" y="3034791"/>
            <a:ext cx="600165" cy="500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00E5FF"/>
                </a:solidFill>
                <a:latin typeface="Courier New" pitchFamily="34" charset="0"/>
                <a:cs typeface="Courier New" pitchFamily="34" charset="-120"/>
              </a:rPr>
              <a:t>4</a:t>
            </a:r>
            <a:endParaRPr lang="en-US" sz="3800"/>
          </a:p>
        </p:txBody>
      </p:sp>
      <p:sp>
        <p:nvSpPr>
          <p:cNvPr id="177" name="Shape 85">
            <a:extLst>
              <a:ext uri="{FF2B5EF4-FFF2-40B4-BE49-F238E27FC236}">
                <a16:creationId xmlns:a16="http://schemas.microsoft.com/office/drawing/2014/main" id="{5F12A3F7-83EB-442F-9A18-0913839A8E89}"/>
              </a:ext>
            </a:extLst>
          </p:cNvPr>
          <p:cNvSpPr/>
          <p:nvPr/>
        </p:nvSpPr>
        <p:spPr>
          <a:xfrm>
            <a:off x="4457445" y="3089665"/>
            <a:ext cx="0" cy="402313"/>
          </a:xfrm>
          <a:prstGeom prst="line">
            <a:avLst/>
          </a:prstGeom>
          <a:noFill/>
          <a:ln w="508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82">
            <a:extLst>
              <a:ext uri="{FF2B5EF4-FFF2-40B4-BE49-F238E27FC236}">
                <a16:creationId xmlns:a16="http://schemas.microsoft.com/office/drawing/2014/main" id="{7E48094A-097D-4D56-B65F-6DA5FBB44498}"/>
              </a:ext>
            </a:extLst>
          </p:cNvPr>
          <p:cNvSpPr/>
          <p:nvPr/>
        </p:nvSpPr>
        <p:spPr>
          <a:xfrm>
            <a:off x="3749040" y="3739522"/>
            <a:ext cx="5029199" cy="632206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0" name="Shape 83">
            <a:extLst>
              <a:ext uri="{FF2B5EF4-FFF2-40B4-BE49-F238E27FC236}">
                <a16:creationId xmlns:a16="http://schemas.microsoft.com/office/drawing/2014/main" id="{F6BC448C-879F-44D1-ABD7-4234EC1DE80D}"/>
              </a:ext>
            </a:extLst>
          </p:cNvPr>
          <p:cNvSpPr/>
          <p:nvPr/>
        </p:nvSpPr>
        <p:spPr>
          <a:xfrm>
            <a:off x="3759927" y="3745871"/>
            <a:ext cx="80553" cy="63220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Text 84">
            <a:extLst>
              <a:ext uri="{FF2B5EF4-FFF2-40B4-BE49-F238E27FC236}">
                <a16:creationId xmlns:a16="http://schemas.microsoft.com/office/drawing/2014/main" id="{49F8BF86-06B3-46C2-AF7D-6BF12F2B11BC}"/>
              </a:ext>
            </a:extLst>
          </p:cNvPr>
          <p:cNvSpPr/>
          <p:nvPr/>
        </p:nvSpPr>
        <p:spPr>
          <a:xfrm>
            <a:off x="3871250" y="3801878"/>
            <a:ext cx="600165" cy="500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00E5FF"/>
                </a:solidFill>
                <a:latin typeface="Courier New" pitchFamily="34" charset="0"/>
                <a:cs typeface="Courier New" pitchFamily="34" charset="-120"/>
              </a:rPr>
              <a:t>5</a:t>
            </a:r>
            <a:endParaRPr lang="en-US" sz="3800"/>
          </a:p>
        </p:txBody>
      </p:sp>
      <p:sp>
        <p:nvSpPr>
          <p:cNvPr id="182" name="Shape 85">
            <a:extLst>
              <a:ext uri="{FF2B5EF4-FFF2-40B4-BE49-F238E27FC236}">
                <a16:creationId xmlns:a16="http://schemas.microsoft.com/office/drawing/2014/main" id="{A0643584-BD81-482B-9924-40C66AA6E88B}"/>
              </a:ext>
            </a:extLst>
          </p:cNvPr>
          <p:cNvSpPr/>
          <p:nvPr/>
        </p:nvSpPr>
        <p:spPr>
          <a:xfrm>
            <a:off x="4457445" y="3856752"/>
            <a:ext cx="0" cy="402313"/>
          </a:xfrm>
          <a:prstGeom prst="line">
            <a:avLst/>
          </a:prstGeom>
          <a:noFill/>
          <a:ln w="508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5" name="Text 86">
            <a:extLst>
              <a:ext uri="{FF2B5EF4-FFF2-40B4-BE49-F238E27FC236}">
                <a16:creationId xmlns:a16="http://schemas.microsoft.com/office/drawing/2014/main" id="{0638867D-56D9-417E-A10A-F03DF67A76A4}"/>
              </a:ext>
            </a:extLst>
          </p:cNvPr>
          <p:cNvSpPr/>
          <p:nvPr/>
        </p:nvSpPr>
        <p:spPr>
          <a:xfrm>
            <a:off x="4562855" y="1696594"/>
            <a:ext cx="3913630" cy="172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ko-KR" altLang="en-US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교육 비용 절감</a:t>
            </a:r>
            <a:r>
              <a:rPr lang="en-US" altLang="ko-KR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외부 업체 없이 내부 개발로</a:t>
            </a:r>
            <a:r>
              <a:rPr lang="en-US" altLang="ko-KR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Text 86">
            <a:extLst>
              <a:ext uri="{FF2B5EF4-FFF2-40B4-BE49-F238E27FC236}">
                <a16:creationId xmlns:a16="http://schemas.microsoft.com/office/drawing/2014/main" id="{2DC2AAD1-CF32-4CB9-B48E-6FA61A8A4B75}"/>
              </a:ext>
            </a:extLst>
          </p:cNvPr>
          <p:cNvSpPr/>
          <p:nvPr/>
        </p:nvSpPr>
        <p:spPr>
          <a:xfrm>
            <a:off x="4562855" y="2452292"/>
            <a:ext cx="3913630" cy="172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‘SW</a:t>
            </a:r>
            <a:r>
              <a:rPr lang="ko-KR" altLang="en-US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역량 내제화</a:t>
            </a:r>
            <a:r>
              <a:rPr lang="en-US" altLang="ko-KR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부트캠프 학습 내용을 게임을 체화</a:t>
            </a:r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" name="Text 86">
            <a:extLst>
              <a:ext uri="{FF2B5EF4-FFF2-40B4-BE49-F238E27FC236}">
                <a16:creationId xmlns:a16="http://schemas.microsoft.com/office/drawing/2014/main" id="{86694AC5-06A9-49DC-BE08-DDC0AD0D8905}"/>
              </a:ext>
            </a:extLst>
          </p:cNvPr>
          <p:cNvSpPr/>
          <p:nvPr/>
        </p:nvSpPr>
        <p:spPr>
          <a:xfrm>
            <a:off x="4571999" y="3203262"/>
            <a:ext cx="3913630" cy="172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‘LG</a:t>
            </a:r>
            <a:r>
              <a:rPr lang="ko-KR" altLang="en-US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정체성 연결</a:t>
            </a:r>
            <a:r>
              <a:rPr lang="en-US" altLang="ko-KR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LG WAY</a:t>
            </a:r>
            <a:r>
              <a:rPr lang="ko-KR" altLang="en-US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를 게임 속에 담다</a:t>
            </a:r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8" name="Text 86">
            <a:extLst>
              <a:ext uri="{FF2B5EF4-FFF2-40B4-BE49-F238E27FC236}">
                <a16:creationId xmlns:a16="http://schemas.microsoft.com/office/drawing/2014/main" id="{A425481D-4BB3-4417-BB01-FF36B279DD93}"/>
              </a:ext>
            </a:extLst>
          </p:cNvPr>
          <p:cNvSpPr/>
          <p:nvPr/>
        </p:nvSpPr>
        <p:spPr>
          <a:xfrm>
            <a:off x="4571490" y="3986070"/>
            <a:ext cx="3913630" cy="172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ko-KR" altLang="en-US" sz="105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인화원</a:t>
            </a:r>
            <a:r>
              <a:rPr lang="ko-KR" altLang="en-US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공식 채택</a:t>
            </a:r>
            <a:r>
              <a:rPr lang="en-US" altLang="ko-KR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로열티를 바라며</a:t>
            </a:r>
            <a:r>
              <a:rPr lang="en-US" altLang="ko-KR" sz="10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….?</a:t>
            </a:r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Text 86">
            <a:extLst>
              <a:ext uri="{FF2B5EF4-FFF2-40B4-BE49-F238E27FC236}">
                <a16:creationId xmlns:a16="http://schemas.microsoft.com/office/drawing/2014/main" id="{C97B919F-5A58-41EC-8312-1520B7078457}"/>
              </a:ext>
            </a:extLst>
          </p:cNvPr>
          <p:cNvSpPr/>
          <p:nvPr/>
        </p:nvSpPr>
        <p:spPr>
          <a:xfrm>
            <a:off x="897565" y="3281612"/>
            <a:ext cx="1955290" cy="172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LG </a:t>
            </a:r>
            <a:r>
              <a:rPr lang="ko-KR" altLang="en-US" sz="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그룹의 신입</a:t>
            </a:r>
            <a:r>
              <a:rPr lang="en-US" altLang="ko-KR" sz="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경력 입사자들을 위한 프로그램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Shape 80">
            <a:extLst>
              <a:ext uri="{FF2B5EF4-FFF2-40B4-BE49-F238E27FC236}">
                <a16:creationId xmlns:a16="http://schemas.microsoft.com/office/drawing/2014/main" id="{AB5E0313-3378-4AB6-A754-FA42F8976F59}"/>
              </a:ext>
            </a:extLst>
          </p:cNvPr>
          <p:cNvSpPr/>
          <p:nvPr/>
        </p:nvSpPr>
        <p:spPr>
          <a:xfrm>
            <a:off x="745019" y="3339339"/>
            <a:ext cx="45719" cy="45719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1" name="Shape 80">
            <a:extLst>
              <a:ext uri="{FF2B5EF4-FFF2-40B4-BE49-F238E27FC236}">
                <a16:creationId xmlns:a16="http://schemas.microsoft.com/office/drawing/2014/main" id="{F6CA51ED-B351-4631-8221-4D583F9BC861}"/>
              </a:ext>
            </a:extLst>
          </p:cNvPr>
          <p:cNvSpPr/>
          <p:nvPr/>
        </p:nvSpPr>
        <p:spPr>
          <a:xfrm>
            <a:off x="745019" y="3569846"/>
            <a:ext cx="45719" cy="45719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2" name="Text 86">
            <a:extLst>
              <a:ext uri="{FF2B5EF4-FFF2-40B4-BE49-F238E27FC236}">
                <a16:creationId xmlns:a16="http://schemas.microsoft.com/office/drawing/2014/main" id="{BFFC4F97-E058-4047-9222-D419CA41E248}"/>
              </a:ext>
            </a:extLst>
          </p:cNvPr>
          <p:cNvSpPr/>
          <p:nvPr/>
        </p:nvSpPr>
        <p:spPr>
          <a:xfrm>
            <a:off x="911136" y="3494948"/>
            <a:ext cx="2909821" cy="172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ko-KR" altLang="en-US" sz="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신규 입사자들의 </a:t>
            </a:r>
            <a:r>
              <a:rPr lang="en-US" altLang="ko-KR" sz="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LG</a:t>
            </a:r>
            <a:r>
              <a:rPr lang="ko-KR" altLang="en-US" sz="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그룹 이해와 가치 내재화를 위한 목적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Shape 80">
            <a:extLst>
              <a:ext uri="{FF2B5EF4-FFF2-40B4-BE49-F238E27FC236}">
                <a16:creationId xmlns:a16="http://schemas.microsoft.com/office/drawing/2014/main" id="{D5A767B8-3835-40A1-812E-559088414E72}"/>
              </a:ext>
            </a:extLst>
          </p:cNvPr>
          <p:cNvSpPr/>
          <p:nvPr/>
        </p:nvSpPr>
        <p:spPr>
          <a:xfrm>
            <a:off x="745019" y="3779187"/>
            <a:ext cx="45719" cy="45719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4" name="Text 86">
            <a:extLst>
              <a:ext uri="{FF2B5EF4-FFF2-40B4-BE49-F238E27FC236}">
                <a16:creationId xmlns:a16="http://schemas.microsoft.com/office/drawing/2014/main" id="{7FFCD6D4-47FA-45E7-993C-B669A4DE113F}"/>
              </a:ext>
            </a:extLst>
          </p:cNvPr>
          <p:cNvSpPr/>
          <p:nvPr/>
        </p:nvSpPr>
        <p:spPr>
          <a:xfrm>
            <a:off x="911136" y="3717162"/>
            <a:ext cx="2909821" cy="172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ko-KR" altLang="en-US" sz="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해킹 사건을 해결하면서 </a:t>
            </a:r>
            <a:r>
              <a:rPr lang="en-US" altLang="ko-KR" sz="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LG</a:t>
            </a:r>
            <a:r>
              <a:rPr lang="ko-KR" altLang="en-US" sz="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그룹의 데이터를 복구하는 컨셉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178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28016" y="128016"/>
            <a:ext cx="8887968" cy="4887468"/>
          </a:xfrm>
          <a:prstGeom prst="rect">
            <a:avLst/>
          </a:prstGeom>
          <a:ln w="889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28016" y="128016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28016" y="1280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5156" y="105156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8814816" y="128016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9015984" y="1280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8993124" y="105156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28016" y="5015484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128016" y="48143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05156" y="4992624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8814816" y="5015484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015984" y="48143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8993124" y="4992624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128016" y="128016"/>
            <a:ext cx="8887968" cy="256032"/>
          </a:xfrm>
          <a:prstGeom prst="rect">
            <a:avLst/>
          </a:prstGeom>
          <a:solidFill>
            <a:srgbClr val="050D14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365760" y="164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ESCAPE  ·  PROJECT REPORT</a:t>
            </a:r>
            <a:endParaRPr lang="en-US" sz="600"/>
          </a:p>
        </p:txBody>
      </p:sp>
      <p:sp>
        <p:nvSpPr>
          <p:cNvPr id="71" name="Text 69"/>
          <p:cNvSpPr/>
          <p:nvPr/>
        </p:nvSpPr>
        <p:spPr>
          <a:xfrm>
            <a:off x="5120640" y="164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개발 목표 및 개발 결과</a:t>
            </a:r>
            <a:endParaRPr lang="en-US" sz="550"/>
          </a:p>
        </p:txBody>
      </p:sp>
      <p:sp>
        <p:nvSpPr>
          <p:cNvPr id="72" name="Shape 70"/>
          <p:cNvSpPr/>
          <p:nvPr/>
        </p:nvSpPr>
        <p:spPr>
          <a:xfrm>
            <a:off x="128016" y="4759452"/>
            <a:ext cx="8887968" cy="256032"/>
          </a:xfrm>
          <a:prstGeom prst="rect">
            <a:avLst/>
          </a:prstGeom>
          <a:solidFill>
            <a:srgbClr val="050D14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28016" y="4759452"/>
            <a:ext cx="8887968" cy="0"/>
          </a:xfrm>
          <a:prstGeom prst="line">
            <a:avLst/>
          </a:prstGeom>
          <a:noFill/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3200400" y="47594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70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HRD_ERROR_404</a:t>
            </a:r>
            <a:endParaRPr lang="en-US" altLang="ko-KR" sz="700">
              <a:solidFill>
                <a:srgbClr val="00E5FF"/>
              </a:solidFill>
            </a:endParaRPr>
          </a:p>
        </p:txBody>
      </p:sp>
      <p:sp>
        <p:nvSpPr>
          <p:cNvPr id="76" name="Text 74"/>
          <p:cNvSpPr/>
          <p:nvPr/>
        </p:nvSpPr>
        <p:spPr>
          <a:xfrm>
            <a:off x="365760" y="4754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개발 목표 및 </a:t>
            </a:r>
            <a:r>
              <a:rPr lang="ko-KR" altLang="en-US" sz="7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중간 </a:t>
            </a:r>
            <a:r>
              <a:rPr lang="en-US" sz="700" b="1" err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개발</a:t>
            </a:r>
            <a:r>
              <a:rPr lang="en-US" sz="7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결과</a:t>
            </a:r>
            <a:endParaRPr lang="en-US" sz="700"/>
          </a:p>
        </p:txBody>
      </p:sp>
      <p:sp>
        <p:nvSpPr>
          <p:cNvPr id="77" name="Shape 75"/>
          <p:cNvSpPr/>
          <p:nvPr/>
        </p:nvSpPr>
        <p:spPr>
          <a:xfrm>
            <a:off x="1883687" y="548640"/>
            <a:ext cx="6894553" cy="9144"/>
          </a:xfrm>
          <a:prstGeom prst="line">
            <a:avLst/>
          </a:prstGeom>
          <a:noFill/>
          <a:ln w="508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365760" y="694943"/>
            <a:ext cx="4023360" cy="3323845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365759" y="694944"/>
            <a:ext cx="53331" cy="33101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493776" y="749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개발 목표 ]</a:t>
            </a:r>
            <a:endParaRPr lang="en-US" sz="850"/>
          </a:p>
        </p:txBody>
      </p:sp>
      <p:sp>
        <p:nvSpPr>
          <p:cNvPr id="81" name="Shape 79"/>
          <p:cNvSpPr/>
          <p:nvPr/>
        </p:nvSpPr>
        <p:spPr>
          <a:xfrm>
            <a:off x="493776" y="1005840"/>
            <a:ext cx="3657600" cy="0"/>
          </a:xfrm>
          <a:prstGeom prst="line">
            <a:avLst/>
          </a:prstGeom>
          <a:noFill/>
          <a:ln w="508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530352" y="1371600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685800" y="1223772"/>
            <a:ext cx="3566160" cy="402336"/>
          </a:xfrm>
          <a:prstGeom prst="rect">
            <a:avLst/>
          </a:prstGeom>
          <a:solidFill>
            <a:srgbClr val="0D1A26"/>
          </a:solidFill>
          <a:ln w="5080">
            <a:solidFill>
              <a:srgbClr val="2233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804671" y="1246632"/>
            <a:ext cx="337870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ko-KR" altLang="en-US" sz="100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사이버펑크</a:t>
            </a:r>
            <a:r>
              <a:rPr lang="ko-KR" altLang="en-US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컨셉 게임 </a:t>
            </a:r>
            <a:r>
              <a:rPr lang="en-US" altLang="ko-KR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UI </a:t>
            </a:r>
            <a:r>
              <a:rPr lang="ko-KR" altLang="en-US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설계 및 구현</a:t>
            </a:r>
            <a:endParaRPr lang="en-US" sz="100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4572000" y="694943"/>
            <a:ext cx="4206240" cy="3886201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>
            <a:off x="4544566" y="702563"/>
            <a:ext cx="64008" cy="3886197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/>
          <p:nvPr/>
        </p:nvSpPr>
        <p:spPr>
          <a:xfrm>
            <a:off x="4700016" y="7498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</a:t>
            </a:r>
            <a:r>
              <a:rPr lang="ko-KR" altLang="en-US" sz="850" b="1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중간 </a:t>
            </a:r>
            <a:r>
              <a:rPr lang="en-US" sz="850" b="1" err="1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개발</a:t>
            </a:r>
            <a:r>
              <a:rPr lang="en-US" sz="850" b="1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결과 ]</a:t>
            </a:r>
            <a:endParaRPr lang="en-US" sz="850"/>
          </a:p>
        </p:txBody>
      </p:sp>
      <p:sp>
        <p:nvSpPr>
          <p:cNvPr id="94" name="Shape 92"/>
          <p:cNvSpPr/>
          <p:nvPr/>
        </p:nvSpPr>
        <p:spPr>
          <a:xfrm>
            <a:off x="4700016" y="1005840"/>
            <a:ext cx="3840480" cy="0"/>
          </a:xfrm>
          <a:prstGeom prst="line">
            <a:avLst/>
          </a:prstGeom>
          <a:noFill/>
          <a:ln w="508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4892040" y="10789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22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1 입력</a:t>
            </a:r>
            <a:endParaRPr lang="en-US" sz="900"/>
          </a:p>
        </p:txBody>
      </p:sp>
      <p:sp>
        <p:nvSpPr>
          <p:cNvPr id="104" name="Shape 102"/>
          <p:cNvSpPr/>
          <p:nvPr/>
        </p:nvSpPr>
        <p:spPr>
          <a:xfrm>
            <a:off x="4526280" y="731520"/>
            <a:ext cx="0" cy="3200400"/>
          </a:xfrm>
          <a:prstGeom prst="line">
            <a:avLst/>
          </a:prstGeom>
          <a:noFill/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72">
            <a:extLst>
              <a:ext uri="{FF2B5EF4-FFF2-40B4-BE49-F238E27FC236}">
                <a16:creationId xmlns:a16="http://schemas.microsoft.com/office/drawing/2014/main" id="{F0A0A1BA-9012-4B0C-9CA8-C92DD63B1B1D}"/>
              </a:ext>
            </a:extLst>
          </p:cNvPr>
          <p:cNvSpPr/>
          <p:nvPr/>
        </p:nvSpPr>
        <p:spPr>
          <a:xfrm>
            <a:off x="365760" y="47594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>
                <a:solidFill>
                  <a:srgbClr val="223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 SW BOOTCAMP · 2026</a:t>
            </a:r>
            <a:endParaRPr lang="en-US" sz="600"/>
          </a:p>
        </p:txBody>
      </p:sp>
      <p:sp>
        <p:nvSpPr>
          <p:cNvPr id="85" name="Shape 83"/>
          <p:cNvSpPr/>
          <p:nvPr/>
        </p:nvSpPr>
        <p:spPr>
          <a:xfrm>
            <a:off x="530352" y="1943101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81">
            <a:extLst>
              <a:ext uri="{FF2B5EF4-FFF2-40B4-BE49-F238E27FC236}">
                <a16:creationId xmlns:a16="http://schemas.microsoft.com/office/drawing/2014/main" id="{86811D60-04A7-4545-A2AD-C996DEE189FB}"/>
              </a:ext>
            </a:extLst>
          </p:cNvPr>
          <p:cNvSpPr/>
          <p:nvPr/>
        </p:nvSpPr>
        <p:spPr>
          <a:xfrm>
            <a:off x="693420" y="1796633"/>
            <a:ext cx="3566160" cy="402336"/>
          </a:xfrm>
          <a:prstGeom prst="rect">
            <a:avLst/>
          </a:prstGeom>
          <a:solidFill>
            <a:srgbClr val="0D1A26"/>
          </a:solidFill>
          <a:ln w="5080">
            <a:solidFill>
              <a:srgbClr val="2233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82">
            <a:extLst>
              <a:ext uri="{FF2B5EF4-FFF2-40B4-BE49-F238E27FC236}">
                <a16:creationId xmlns:a16="http://schemas.microsoft.com/office/drawing/2014/main" id="{A080D1BC-2C38-4DEA-85A2-9E60B6E2E0EF}"/>
              </a:ext>
            </a:extLst>
          </p:cNvPr>
          <p:cNvSpPr/>
          <p:nvPr/>
        </p:nvSpPr>
        <p:spPr>
          <a:xfrm>
            <a:off x="812291" y="1819493"/>
            <a:ext cx="337870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Rasberry-pi-3-b</a:t>
            </a:r>
            <a:r>
              <a:rPr lang="ko-KR" altLang="en-US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에 리눅스 커널 최신 버전 포팅</a:t>
            </a:r>
            <a:endParaRPr lang="en-US" sz="100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530352" y="2512314"/>
            <a:ext cx="91440" cy="914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81">
            <a:extLst>
              <a:ext uri="{FF2B5EF4-FFF2-40B4-BE49-F238E27FC236}">
                <a16:creationId xmlns:a16="http://schemas.microsoft.com/office/drawing/2014/main" id="{A4D2E85F-8208-4D13-96BC-17F40EA0A5E2}"/>
              </a:ext>
            </a:extLst>
          </p:cNvPr>
          <p:cNvSpPr/>
          <p:nvPr/>
        </p:nvSpPr>
        <p:spPr>
          <a:xfrm>
            <a:off x="704088" y="2369494"/>
            <a:ext cx="3566160" cy="402336"/>
          </a:xfrm>
          <a:prstGeom prst="rect">
            <a:avLst/>
          </a:prstGeom>
          <a:solidFill>
            <a:srgbClr val="0D1A26"/>
          </a:solidFill>
          <a:ln w="5080">
            <a:solidFill>
              <a:srgbClr val="2233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82">
            <a:extLst>
              <a:ext uri="{FF2B5EF4-FFF2-40B4-BE49-F238E27FC236}">
                <a16:creationId xmlns:a16="http://schemas.microsoft.com/office/drawing/2014/main" id="{E3A2CF50-DBDB-427D-A1A1-7517B859E262}"/>
              </a:ext>
            </a:extLst>
          </p:cNvPr>
          <p:cNvSpPr/>
          <p:nvPr/>
        </p:nvSpPr>
        <p:spPr>
          <a:xfrm>
            <a:off x="822959" y="2392354"/>
            <a:ext cx="337870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ko-KR" altLang="en-US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디바이스 드라이버 기반 미션 구현</a:t>
            </a:r>
            <a:endParaRPr lang="en-US" sz="100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Shape 80">
            <a:extLst>
              <a:ext uri="{FF2B5EF4-FFF2-40B4-BE49-F238E27FC236}">
                <a16:creationId xmlns:a16="http://schemas.microsoft.com/office/drawing/2014/main" id="{8B67E53E-A7B3-4C46-9401-7175EC5C7478}"/>
              </a:ext>
            </a:extLst>
          </p:cNvPr>
          <p:cNvSpPr/>
          <p:nvPr/>
        </p:nvSpPr>
        <p:spPr>
          <a:xfrm>
            <a:off x="4727447" y="1378785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81">
            <a:extLst>
              <a:ext uri="{FF2B5EF4-FFF2-40B4-BE49-F238E27FC236}">
                <a16:creationId xmlns:a16="http://schemas.microsoft.com/office/drawing/2014/main" id="{1E69240C-5466-4D20-97EB-06CC215FAD3D}"/>
              </a:ext>
            </a:extLst>
          </p:cNvPr>
          <p:cNvSpPr/>
          <p:nvPr/>
        </p:nvSpPr>
        <p:spPr>
          <a:xfrm>
            <a:off x="4882895" y="1225622"/>
            <a:ext cx="3566160" cy="2091527"/>
          </a:xfrm>
          <a:prstGeom prst="rect">
            <a:avLst/>
          </a:prstGeom>
          <a:solidFill>
            <a:srgbClr val="0D1A26"/>
          </a:solidFill>
          <a:ln w="5080">
            <a:solidFill>
              <a:srgbClr val="2233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82">
            <a:extLst>
              <a:ext uri="{FF2B5EF4-FFF2-40B4-BE49-F238E27FC236}">
                <a16:creationId xmlns:a16="http://schemas.microsoft.com/office/drawing/2014/main" id="{4BC9746D-AD5E-475B-AAB9-3DEBFB1E7B79}"/>
              </a:ext>
            </a:extLst>
          </p:cNvPr>
          <p:cNvSpPr/>
          <p:nvPr/>
        </p:nvSpPr>
        <p:spPr>
          <a:xfrm>
            <a:off x="5001766" y="1256103"/>
            <a:ext cx="337870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ko-KR" altLang="en-US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게임 </a:t>
            </a:r>
            <a:r>
              <a:rPr lang="en-US" altLang="ko-KR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Intro </a:t>
            </a:r>
            <a:r>
              <a:rPr lang="ko-KR" altLang="en-US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구현 완료 </a:t>
            </a:r>
            <a:r>
              <a:rPr lang="en-US" altLang="ko-KR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한</a:t>
            </a:r>
            <a:r>
              <a:rPr lang="en-US" altLang="ko-KR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영 키보드 및 미션 제공 기본 </a:t>
            </a:r>
            <a:r>
              <a:rPr lang="en-US" altLang="ko-KR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UI)</a:t>
            </a:r>
            <a:endParaRPr lang="en-US" sz="100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77CCF2FD-A954-4918-82FE-8CF8D41EF037}"/>
              </a:ext>
            </a:extLst>
          </p:cNvPr>
          <p:cNvGrpSpPr/>
          <p:nvPr/>
        </p:nvGrpSpPr>
        <p:grpSpPr>
          <a:xfrm>
            <a:off x="5309822" y="1596308"/>
            <a:ext cx="2751933" cy="1568360"/>
            <a:chOff x="5075330" y="1573501"/>
            <a:chExt cx="3026256" cy="1814352"/>
          </a:xfrm>
        </p:grpSpPr>
        <p:sp>
          <p:nvSpPr>
            <p:cNvPr id="121" name="Shape 82">
              <a:extLst>
                <a:ext uri="{FF2B5EF4-FFF2-40B4-BE49-F238E27FC236}">
                  <a16:creationId xmlns:a16="http://schemas.microsoft.com/office/drawing/2014/main" id="{FD19D2A0-08C6-4917-A781-A840719FA306}"/>
                </a:ext>
              </a:extLst>
            </p:cNvPr>
            <p:cNvSpPr/>
            <p:nvPr/>
          </p:nvSpPr>
          <p:spPr>
            <a:xfrm>
              <a:off x="5075330" y="1573501"/>
              <a:ext cx="3026256" cy="1814352"/>
            </a:xfrm>
            <a:prstGeom prst="rect">
              <a:avLst/>
            </a:prstGeom>
            <a:solidFill>
              <a:srgbClr val="030C18"/>
            </a:solidFill>
            <a:ln w="6350">
              <a:solidFill>
                <a:srgbClr val="00E5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4100" name="Picture 4">
              <a:extLst>
                <a:ext uri="{FF2B5EF4-FFF2-40B4-BE49-F238E27FC236}">
                  <a16:creationId xmlns:a16="http://schemas.microsoft.com/office/drawing/2014/main" id="{48D344D7-F4C1-4900-BEF8-C6DA0A8430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8928" y="1639756"/>
              <a:ext cx="2904744" cy="16920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4" name="Shape 80">
            <a:extLst>
              <a:ext uri="{FF2B5EF4-FFF2-40B4-BE49-F238E27FC236}">
                <a16:creationId xmlns:a16="http://schemas.microsoft.com/office/drawing/2014/main" id="{D37C07DF-9DA3-4F96-8AB9-F97B72D8122E}"/>
              </a:ext>
            </a:extLst>
          </p:cNvPr>
          <p:cNvSpPr/>
          <p:nvPr/>
        </p:nvSpPr>
        <p:spPr>
          <a:xfrm>
            <a:off x="4727447" y="3505201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81">
            <a:extLst>
              <a:ext uri="{FF2B5EF4-FFF2-40B4-BE49-F238E27FC236}">
                <a16:creationId xmlns:a16="http://schemas.microsoft.com/office/drawing/2014/main" id="{849D690B-F40A-4E4B-BCCA-4B056B27E4AF}"/>
              </a:ext>
            </a:extLst>
          </p:cNvPr>
          <p:cNvSpPr/>
          <p:nvPr/>
        </p:nvSpPr>
        <p:spPr>
          <a:xfrm>
            <a:off x="4892040" y="3454309"/>
            <a:ext cx="3566160" cy="402336"/>
          </a:xfrm>
          <a:prstGeom prst="rect">
            <a:avLst/>
          </a:prstGeom>
          <a:solidFill>
            <a:srgbClr val="0D1A26"/>
          </a:solidFill>
          <a:ln w="5080">
            <a:solidFill>
              <a:srgbClr val="2233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82">
            <a:extLst>
              <a:ext uri="{FF2B5EF4-FFF2-40B4-BE49-F238E27FC236}">
                <a16:creationId xmlns:a16="http://schemas.microsoft.com/office/drawing/2014/main" id="{CBF51FCD-5E8B-4CFD-B597-9DB02EEEFBCE}"/>
              </a:ext>
            </a:extLst>
          </p:cNvPr>
          <p:cNvSpPr/>
          <p:nvPr/>
        </p:nvSpPr>
        <p:spPr>
          <a:xfrm>
            <a:off x="5010914" y="3472434"/>
            <a:ext cx="337870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ko-KR" altLang="en-US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커널 포팅 완료</a:t>
            </a:r>
            <a:r>
              <a:rPr lang="en-US" altLang="ko-KR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 v6.12.81 (LTS)</a:t>
            </a:r>
            <a:r>
              <a:rPr lang="ko-KR" altLang="en-US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ko-KR" altLang="en-US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2026.04.11 release</a:t>
            </a:r>
            <a:endParaRPr lang="en-US" sz="100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Shape 80">
            <a:extLst>
              <a:ext uri="{FF2B5EF4-FFF2-40B4-BE49-F238E27FC236}">
                <a16:creationId xmlns:a16="http://schemas.microsoft.com/office/drawing/2014/main" id="{36F504DB-5D78-4569-B693-85B791221799}"/>
              </a:ext>
            </a:extLst>
          </p:cNvPr>
          <p:cNvSpPr/>
          <p:nvPr/>
        </p:nvSpPr>
        <p:spPr>
          <a:xfrm>
            <a:off x="4727447" y="4046221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81">
            <a:extLst>
              <a:ext uri="{FF2B5EF4-FFF2-40B4-BE49-F238E27FC236}">
                <a16:creationId xmlns:a16="http://schemas.microsoft.com/office/drawing/2014/main" id="{2E368B6D-02E1-40A9-BF9C-1C6E24052B18}"/>
              </a:ext>
            </a:extLst>
          </p:cNvPr>
          <p:cNvSpPr/>
          <p:nvPr/>
        </p:nvSpPr>
        <p:spPr>
          <a:xfrm>
            <a:off x="4892040" y="3995329"/>
            <a:ext cx="3566160" cy="402336"/>
          </a:xfrm>
          <a:prstGeom prst="rect">
            <a:avLst/>
          </a:prstGeom>
          <a:solidFill>
            <a:srgbClr val="0D1A26"/>
          </a:solidFill>
          <a:ln w="5080">
            <a:solidFill>
              <a:srgbClr val="2233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Text 82">
            <a:extLst>
              <a:ext uri="{FF2B5EF4-FFF2-40B4-BE49-F238E27FC236}">
                <a16:creationId xmlns:a16="http://schemas.microsoft.com/office/drawing/2014/main" id="{0D760A89-F167-4C2B-BC44-2E8F32E8BEED}"/>
              </a:ext>
            </a:extLst>
          </p:cNvPr>
          <p:cNvSpPr/>
          <p:nvPr/>
        </p:nvSpPr>
        <p:spPr>
          <a:xfrm>
            <a:off x="5010914" y="4013454"/>
            <a:ext cx="337870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ko-KR" altLang="en-US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센서 미션 구현 중</a:t>
            </a:r>
            <a:r>
              <a:rPr lang="en-US" altLang="ko-KR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 LED </a:t>
            </a:r>
            <a:r>
              <a:rPr lang="en-US" altLang="ko-KR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〮 BUZZER</a:t>
            </a:r>
            <a:r>
              <a:rPr lang="ko-KR" altLang="en-US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완료 </a:t>
            </a:r>
            <a:r>
              <a:rPr lang="en-US" altLang="ko-KR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/ </a:t>
            </a:r>
            <a:r>
              <a:rPr lang="ko-KR" altLang="en-US" sz="1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기울기 진행 중</a:t>
            </a:r>
            <a:endParaRPr lang="en-US" sz="100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28016" y="128016"/>
            <a:ext cx="8887968" cy="4887468"/>
          </a:xfrm>
          <a:prstGeom prst="rect">
            <a:avLst/>
          </a:prstGeom>
          <a:ln w="889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28016" y="128016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28016" y="1280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05156" y="105156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8814816" y="128016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9015984" y="1280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8993124" y="105156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28016" y="5015484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128016" y="48143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05156" y="4992624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8814816" y="5015484"/>
            <a:ext cx="201168" cy="0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9015984" y="4814316"/>
            <a:ext cx="0" cy="201168"/>
          </a:xfrm>
          <a:prstGeom prst="line">
            <a:avLst/>
          </a:prstGeom>
          <a:noFill/>
          <a:ln w="2286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8993124" y="4992624"/>
            <a:ext cx="45720" cy="4572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128016" y="128016"/>
            <a:ext cx="8887968" cy="256032"/>
          </a:xfrm>
          <a:prstGeom prst="rect">
            <a:avLst/>
          </a:prstGeom>
          <a:solidFill>
            <a:srgbClr val="050D14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365760" y="164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ESCAPE  ·  PROJECT REPORT</a:t>
            </a:r>
            <a:endParaRPr lang="en-US" sz="600"/>
          </a:p>
        </p:txBody>
      </p:sp>
      <p:sp>
        <p:nvSpPr>
          <p:cNvPr id="71" name="Text 69"/>
          <p:cNvSpPr/>
          <p:nvPr/>
        </p:nvSpPr>
        <p:spPr>
          <a:xfrm>
            <a:off x="5120640" y="164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핵심 기술</a:t>
            </a:r>
            <a:endParaRPr lang="en-US" sz="550"/>
          </a:p>
        </p:txBody>
      </p:sp>
      <p:sp>
        <p:nvSpPr>
          <p:cNvPr id="72" name="Shape 70"/>
          <p:cNvSpPr/>
          <p:nvPr/>
        </p:nvSpPr>
        <p:spPr>
          <a:xfrm>
            <a:off x="128016" y="4759452"/>
            <a:ext cx="8887968" cy="256032"/>
          </a:xfrm>
          <a:prstGeom prst="rect">
            <a:avLst/>
          </a:prstGeom>
          <a:solidFill>
            <a:srgbClr val="050D14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128016" y="4759452"/>
            <a:ext cx="8887968" cy="0"/>
          </a:xfrm>
          <a:prstGeom prst="line">
            <a:avLst/>
          </a:prstGeom>
          <a:noFill/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365760" y="47594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>
                <a:solidFill>
                  <a:srgbClr val="223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 SW BOOTCAMP · 2026</a:t>
            </a:r>
            <a:endParaRPr lang="en-US" sz="600"/>
          </a:p>
        </p:txBody>
      </p:sp>
      <p:sp>
        <p:nvSpPr>
          <p:cNvPr id="75" name="Text 73"/>
          <p:cNvSpPr/>
          <p:nvPr/>
        </p:nvSpPr>
        <p:spPr>
          <a:xfrm>
            <a:off x="3200400" y="47594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70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HRD_ERROR_404</a:t>
            </a:r>
            <a:endParaRPr lang="en-US" altLang="ko-KR" sz="700">
              <a:solidFill>
                <a:srgbClr val="00E5FF"/>
              </a:solidFill>
            </a:endParaRPr>
          </a:p>
        </p:txBody>
      </p:sp>
      <p:sp>
        <p:nvSpPr>
          <p:cNvPr id="76" name="Text 74"/>
          <p:cNvSpPr/>
          <p:nvPr/>
        </p:nvSpPr>
        <p:spPr>
          <a:xfrm>
            <a:off x="365760" y="4754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핵심 기술</a:t>
            </a:r>
            <a:endParaRPr lang="en-US" sz="700"/>
          </a:p>
        </p:txBody>
      </p:sp>
      <p:sp>
        <p:nvSpPr>
          <p:cNvPr id="77" name="Shape 75"/>
          <p:cNvSpPr/>
          <p:nvPr/>
        </p:nvSpPr>
        <p:spPr>
          <a:xfrm>
            <a:off x="896112" y="557784"/>
            <a:ext cx="7882128" cy="0"/>
          </a:xfrm>
          <a:prstGeom prst="line">
            <a:avLst/>
          </a:prstGeom>
          <a:noFill/>
          <a:ln w="508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365760" y="713232"/>
            <a:ext cx="1609344" cy="3648580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438912" y="786384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81" name="Shape 79"/>
          <p:cNvSpPr/>
          <p:nvPr/>
        </p:nvSpPr>
        <p:spPr>
          <a:xfrm>
            <a:off x="475488" y="1316736"/>
            <a:ext cx="1426464" cy="0"/>
          </a:xfrm>
          <a:prstGeom prst="line">
            <a:avLst/>
          </a:prstGeom>
          <a:noFill/>
          <a:ln w="63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438912" y="137160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 · GPIO</a:t>
            </a:r>
            <a:endParaRPr lang="en-US" sz="750"/>
          </a:p>
        </p:txBody>
      </p:sp>
      <p:sp>
        <p:nvSpPr>
          <p:cNvPr id="83" name="Text 81"/>
          <p:cNvSpPr/>
          <p:nvPr/>
        </p:nvSpPr>
        <p:spPr>
          <a:xfrm>
            <a:off x="432817" y="16845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모스부호 </a:t>
            </a:r>
            <a:r>
              <a:rPr lang="en-US" sz="700" err="1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신호</a:t>
            </a:r>
            <a:r>
              <a:rPr lang="en-US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err="1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</a:t>
            </a:r>
            <a:endParaRPr lang="en-US" sz="700">
              <a:solidFill>
                <a:srgbClr val="00E5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GPIO </a:t>
            </a:r>
            <a:r>
              <a:rPr lang="ko-KR" altLang="en-US" sz="700" err="1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컨트로러를</a:t>
            </a:r>
            <a:r>
              <a:rPr lang="ko-KR" altLang="en-US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통한 </a:t>
            </a:r>
            <a:r>
              <a:rPr lang="en-US" altLang="ko-KR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</a:t>
            </a:r>
            <a:r>
              <a:rPr lang="ko-KR" altLang="en-US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</a:t>
            </a:r>
            <a:endParaRPr lang="en-US" sz="700">
              <a:solidFill>
                <a:srgbClr val="00E5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493777" y="2675636"/>
            <a:ext cx="1413510" cy="360934"/>
          </a:xfrm>
          <a:prstGeom prst="rect">
            <a:avLst/>
          </a:prstGeom>
          <a:solidFill>
            <a:srgbClr val="0D1A26"/>
          </a:solidFill>
          <a:ln w="5080">
            <a:solidFill>
              <a:srgbClr val="2233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464567" y="2636064"/>
            <a:ext cx="1472184" cy="432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700" b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LED</a:t>
            </a:r>
            <a:r>
              <a:rPr lang="ko-KR" altLang="en-US" sz="700" b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가 전달하는</a:t>
            </a:r>
            <a:r>
              <a:rPr lang="en-US" altLang="ko-KR" sz="700" b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700" b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암호를 찾아라</a:t>
            </a:r>
            <a:r>
              <a:rPr lang="en-US" altLang="ko-KR" sz="700" b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en-US" sz="700" b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2066544" y="713232"/>
            <a:ext cx="1609344" cy="3648580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2139696" y="786384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89" name="Shape 87"/>
          <p:cNvSpPr/>
          <p:nvPr/>
        </p:nvSpPr>
        <p:spPr>
          <a:xfrm>
            <a:off x="2176272" y="1316736"/>
            <a:ext cx="1426464" cy="0"/>
          </a:xfrm>
          <a:prstGeom prst="line">
            <a:avLst/>
          </a:prstGeom>
          <a:noFill/>
          <a:ln w="63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2139696" y="137160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BUZZER DRIVER</a:t>
            </a:r>
            <a:endParaRPr lang="en-US" sz="750"/>
          </a:p>
        </p:txBody>
      </p:sp>
      <p:sp>
        <p:nvSpPr>
          <p:cNvPr id="91" name="Text 89"/>
          <p:cNvSpPr/>
          <p:nvPr/>
        </p:nvSpPr>
        <p:spPr>
          <a:xfrm>
            <a:off x="2157984" y="1664970"/>
            <a:ext cx="1517904" cy="466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음계 </a:t>
            </a:r>
            <a:r>
              <a:rPr lang="en-US" sz="700" err="1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</a:t>
            </a:r>
            <a:r>
              <a:rPr lang="en-US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err="1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</a:t>
            </a:r>
            <a:endParaRPr lang="en-US" sz="700">
              <a:solidFill>
                <a:srgbClr val="00E5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GPIO</a:t>
            </a:r>
            <a:r>
              <a:rPr lang="ko-KR" altLang="en-US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PWM</a:t>
            </a:r>
            <a:r>
              <a:rPr lang="ko-KR" altLang="en-US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</a:t>
            </a:r>
            <a:r>
              <a:rPr lang="ko-KR" altLang="en-US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제어를 통한 </a:t>
            </a:r>
            <a:r>
              <a:rPr lang="en-US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BUZZER </a:t>
            </a:r>
            <a:r>
              <a:rPr lang="ko-KR" altLang="en-US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</a:t>
            </a:r>
            <a:r>
              <a:rPr lang="en-US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700"/>
          </a:p>
        </p:txBody>
      </p:sp>
      <p:sp>
        <p:nvSpPr>
          <p:cNvPr id="94" name="Shape 92"/>
          <p:cNvSpPr/>
          <p:nvPr/>
        </p:nvSpPr>
        <p:spPr>
          <a:xfrm>
            <a:off x="3767328" y="713231"/>
            <a:ext cx="1609344" cy="3643883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/>
          <p:nvPr/>
        </p:nvSpPr>
        <p:spPr>
          <a:xfrm>
            <a:off x="3840480" y="786384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97" name="Shape 95"/>
          <p:cNvSpPr/>
          <p:nvPr/>
        </p:nvSpPr>
        <p:spPr>
          <a:xfrm>
            <a:off x="3877056" y="1316736"/>
            <a:ext cx="1426464" cy="0"/>
          </a:xfrm>
          <a:prstGeom prst="line">
            <a:avLst/>
          </a:prstGeom>
          <a:noFill/>
          <a:ln w="63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/>
          <p:cNvSpPr/>
          <p:nvPr/>
        </p:nvSpPr>
        <p:spPr>
          <a:xfrm>
            <a:off x="3840480" y="137160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CAMERA · OpenCV</a:t>
            </a:r>
            <a:endParaRPr lang="en-US" sz="750"/>
          </a:p>
        </p:txBody>
      </p:sp>
      <p:sp>
        <p:nvSpPr>
          <p:cNvPr id="99" name="Text 97"/>
          <p:cNvSpPr/>
          <p:nvPr/>
        </p:nvSpPr>
        <p:spPr>
          <a:xfrm>
            <a:off x="3840480" y="179222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QR코드 스캔 및 인식</a:t>
            </a:r>
            <a:endParaRPr lang="en-US" sz="700"/>
          </a:p>
        </p:txBody>
      </p:sp>
      <p:sp>
        <p:nvSpPr>
          <p:cNvPr id="102" name="Shape 100"/>
          <p:cNvSpPr/>
          <p:nvPr/>
        </p:nvSpPr>
        <p:spPr>
          <a:xfrm>
            <a:off x="5468112" y="713232"/>
            <a:ext cx="1609344" cy="3643882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02"/>
          <p:cNvSpPr/>
          <p:nvPr/>
        </p:nvSpPr>
        <p:spPr>
          <a:xfrm>
            <a:off x="5541264" y="786384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5577840" y="1316736"/>
            <a:ext cx="1426464" cy="0"/>
          </a:xfrm>
          <a:prstGeom prst="line">
            <a:avLst/>
          </a:prstGeom>
          <a:noFill/>
          <a:ln w="63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4"/>
          <p:cNvSpPr/>
          <p:nvPr/>
        </p:nvSpPr>
        <p:spPr>
          <a:xfrm>
            <a:off x="5541264" y="137160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DHT11</a:t>
            </a:r>
            <a:endParaRPr lang="en-US" sz="750"/>
          </a:p>
        </p:txBody>
      </p:sp>
      <p:sp>
        <p:nvSpPr>
          <p:cNvPr id="107" name="Text 105"/>
          <p:cNvSpPr/>
          <p:nvPr/>
        </p:nvSpPr>
        <p:spPr>
          <a:xfrm>
            <a:off x="5541264" y="179222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온습도 실시간 측정</a:t>
            </a:r>
            <a:endParaRPr lang="en-US" sz="700"/>
          </a:p>
        </p:txBody>
      </p:sp>
      <p:sp>
        <p:nvSpPr>
          <p:cNvPr id="110" name="Shape 108"/>
          <p:cNvSpPr/>
          <p:nvPr/>
        </p:nvSpPr>
        <p:spPr>
          <a:xfrm>
            <a:off x="7168896" y="713232"/>
            <a:ext cx="1609344" cy="3643882"/>
          </a:xfrm>
          <a:prstGeom prst="rect">
            <a:avLst/>
          </a:prstGeom>
          <a:solidFill>
            <a:srgbClr val="030C18"/>
          </a:solidFill>
          <a:ln w="6350">
            <a:solidFill>
              <a:srgbClr val="004D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7168896" y="713232"/>
            <a:ext cx="45720" cy="364388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10"/>
          <p:cNvSpPr/>
          <p:nvPr/>
        </p:nvSpPr>
        <p:spPr>
          <a:xfrm>
            <a:off x="7242048" y="786384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7278624" y="1316736"/>
            <a:ext cx="1426464" cy="0"/>
          </a:xfrm>
          <a:prstGeom prst="line">
            <a:avLst/>
          </a:prstGeom>
          <a:noFill/>
          <a:ln w="63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112"/>
          <p:cNvSpPr/>
          <p:nvPr/>
        </p:nvSpPr>
        <p:spPr>
          <a:xfrm>
            <a:off x="7242048" y="137160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MPU-6050</a:t>
            </a:r>
            <a:endParaRPr lang="en-US" sz="750"/>
          </a:p>
        </p:txBody>
      </p:sp>
      <p:sp>
        <p:nvSpPr>
          <p:cNvPr id="115" name="Text 113"/>
          <p:cNvSpPr/>
          <p:nvPr/>
        </p:nvSpPr>
        <p:spPr>
          <a:xfrm>
            <a:off x="7242048" y="179222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가속도 / 기울기 감지</a:t>
            </a:r>
            <a:endParaRPr lang="en-US" sz="700"/>
          </a:p>
        </p:txBody>
      </p:sp>
      <p:pic>
        <p:nvPicPr>
          <p:cNvPr id="3080" name="Picture 8" descr="완료 도장 PNG 일러스트 | 이미지 및 PSD 파일 | Pngtree에 무료 다운로드">
            <a:extLst>
              <a:ext uri="{FF2B5EF4-FFF2-40B4-BE49-F238E27FC236}">
                <a16:creationId xmlns:a16="http://schemas.microsoft.com/office/drawing/2014/main" id="{703E740E-AF61-4AF6-A990-A6ECD4855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07" y="3098036"/>
            <a:ext cx="1188973" cy="1188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" name="Shape 109">
            <a:extLst>
              <a:ext uri="{FF2B5EF4-FFF2-40B4-BE49-F238E27FC236}">
                <a16:creationId xmlns:a16="http://schemas.microsoft.com/office/drawing/2014/main" id="{B9E572C0-0124-4449-89AC-DFBB5A937825}"/>
              </a:ext>
            </a:extLst>
          </p:cNvPr>
          <p:cNvSpPr/>
          <p:nvPr/>
        </p:nvSpPr>
        <p:spPr>
          <a:xfrm>
            <a:off x="5479287" y="726948"/>
            <a:ext cx="45720" cy="364388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109">
            <a:extLst>
              <a:ext uri="{FF2B5EF4-FFF2-40B4-BE49-F238E27FC236}">
                <a16:creationId xmlns:a16="http://schemas.microsoft.com/office/drawing/2014/main" id="{AAA169E8-F3B6-4B51-A6D7-7C5E3E82B2CA}"/>
              </a:ext>
            </a:extLst>
          </p:cNvPr>
          <p:cNvSpPr/>
          <p:nvPr/>
        </p:nvSpPr>
        <p:spPr>
          <a:xfrm>
            <a:off x="3777488" y="717930"/>
            <a:ext cx="45720" cy="364388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 109">
            <a:extLst>
              <a:ext uri="{FF2B5EF4-FFF2-40B4-BE49-F238E27FC236}">
                <a16:creationId xmlns:a16="http://schemas.microsoft.com/office/drawing/2014/main" id="{07298625-54F1-4E7B-9666-05C4A9BA31B0}"/>
              </a:ext>
            </a:extLst>
          </p:cNvPr>
          <p:cNvSpPr/>
          <p:nvPr/>
        </p:nvSpPr>
        <p:spPr>
          <a:xfrm>
            <a:off x="2075941" y="717930"/>
            <a:ext cx="45720" cy="364388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09">
            <a:extLst>
              <a:ext uri="{FF2B5EF4-FFF2-40B4-BE49-F238E27FC236}">
                <a16:creationId xmlns:a16="http://schemas.microsoft.com/office/drawing/2014/main" id="{B9508544-C07A-4766-8038-E1E81CEA589C}"/>
              </a:ext>
            </a:extLst>
          </p:cNvPr>
          <p:cNvSpPr/>
          <p:nvPr/>
        </p:nvSpPr>
        <p:spPr>
          <a:xfrm>
            <a:off x="379984" y="717930"/>
            <a:ext cx="45720" cy="364388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9" name="Picture 8" descr="완료 도장 PNG 일러스트 | 이미지 및 PSD 파일 | Pngtree에 무료 다운로드">
            <a:extLst>
              <a:ext uri="{FF2B5EF4-FFF2-40B4-BE49-F238E27FC236}">
                <a16:creationId xmlns:a16="http://schemas.microsoft.com/office/drawing/2014/main" id="{08400072-CBAD-4F4E-AA0C-832471832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309" y="3104135"/>
            <a:ext cx="1188973" cy="1188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AECDBB3F-2C0A-4279-8691-6BC2BA4490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42" t="24644" b="30034"/>
          <a:stretch/>
        </p:blipFill>
        <p:spPr bwMode="auto">
          <a:xfrm>
            <a:off x="822960" y="2099253"/>
            <a:ext cx="788287" cy="42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" name="Shape 82">
            <a:extLst>
              <a:ext uri="{FF2B5EF4-FFF2-40B4-BE49-F238E27FC236}">
                <a16:creationId xmlns:a16="http://schemas.microsoft.com/office/drawing/2014/main" id="{3CF614D8-FF6A-42F5-AB5B-F76806C3FE0E}"/>
              </a:ext>
            </a:extLst>
          </p:cNvPr>
          <p:cNvSpPr/>
          <p:nvPr/>
        </p:nvSpPr>
        <p:spPr>
          <a:xfrm>
            <a:off x="2213420" y="2670836"/>
            <a:ext cx="1413510" cy="360934"/>
          </a:xfrm>
          <a:prstGeom prst="rect">
            <a:avLst/>
          </a:prstGeom>
          <a:solidFill>
            <a:srgbClr val="0D1A26"/>
          </a:solidFill>
          <a:ln w="5080">
            <a:solidFill>
              <a:srgbClr val="2233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Text 83">
            <a:extLst>
              <a:ext uri="{FF2B5EF4-FFF2-40B4-BE49-F238E27FC236}">
                <a16:creationId xmlns:a16="http://schemas.microsoft.com/office/drawing/2014/main" id="{3C7D5B73-32B4-40C6-BD05-EEA794F16259}"/>
              </a:ext>
            </a:extLst>
          </p:cNvPr>
          <p:cNvSpPr/>
          <p:nvPr/>
        </p:nvSpPr>
        <p:spPr>
          <a:xfrm>
            <a:off x="2184210" y="2641321"/>
            <a:ext cx="1472184" cy="432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ko-KR" altLang="en-US" sz="700" b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멜로디에 담긴 암호를 찾아라</a:t>
            </a:r>
            <a:r>
              <a:rPr lang="en-US" altLang="ko-KR" sz="700" b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en-US" sz="700" b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8" name="TalkAudio_버저문제">
            <a:hlinkClick r:id="" action="ppaction://media"/>
            <a:extLst>
              <a:ext uri="{FF2B5EF4-FFF2-40B4-BE49-F238E27FC236}">
                <a16:creationId xmlns:a16="http://schemas.microsoft.com/office/drawing/2014/main" id="{2F1C8FD7-AC4E-4445-92DC-F57559354514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379" end="1200.1999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761371" y="2212851"/>
            <a:ext cx="347550" cy="347550"/>
          </a:xfrm>
          <a:prstGeom prst="rect">
            <a:avLst/>
          </a:prstGeom>
        </p:spPr>
      </p:pic>
      <p:sp>
        <p:nvSpPr>
          <p:cNvPr id="138" name="Shape 82">
            <a:extLst>
              <a:ext uri="{FF2B5EF4-FFF2-40B4-BE49-F238E27FC236}">
                <a16:creationId xmlns:a16="http://schemas.microsoft.com/office/drawing/2014/main" id="{379073E2-1CF4-4C93-AFB0-A9FDB716C606}"/>
              </a:ext>
            </a:extLst>
          </p:cNvPr>
          <p:cNvSpPr/>
          <p:nvPr/>
        </p:nvSpPr>
        <p:spPr>
          <a:xfrm>
            <a:off x="3933825" y="2683895"/>
            <a:ext cx="1413510" cy="360934"/>
          </a:xfrm>
          <a:prstGeom prst="rect">
            <a:avLst/>
          </a:prstGeom>
          <a:solidFill>
            <a:srgbClr val="0D1A26"/>
          </a:solidFill>
          <a:ln w="5080">
            <a:solidFill>
              <a:srgbClr val="2233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Text 83">
            <a:extLst>
              <a:ext uri="{FF2B5EF4-FFF2-40B4-BE49-F238E27FC236}">
                <a16:creationId xmlns:a16="http://schemas.microsoft.com/office/drawing/2014/main" id="{815680D3-EF96-4AAC-B676-4B448D081BD0}"/>
              </a:ext>
            </a:extLst>
          </p:cNvPr>
          <p:cNvSpPr/>
          <p:nvPr/>
        </p:nvSpPr>
        <p:spPr>
          <a:xfrm>
            <a:off x="3904615" y="2653132"/>
            <a:ext cx="1472184" cy="432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700" b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QR</a:t>
            </a:r>
            <a:r>
              <a:rPr lang="ko-KR" altLang="en-US" sz="700" b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속에 암호를 찾아라</a:t>
            </a:r>
            <a:r>
              <a:rPr lang="en-US" altLang="ko-KR" sz="700" b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en-US" sz="700" b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6" name="Picture 8" descr="완료 도장 PNG 일러스트 | 이미지 및 PSD 파일 | Pngtree에 무료 다운로드">
            <a:extLst>
              <a:ext uri="{FF2B5EF4-FFF2-40B4-BE49-F238E27FC236}">
                <a16:creationId xmlns:a16="http://schemas.microsoft.com/office/drawing/2014/main" id="{FA33F491-5F05-4861-B383-4FB61EE74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675" y="3104135"/>
            <a:ext cx="1188973" cy="1188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8" descr="완료 도장 PNG 일러스트 | 이미지 및 PSD 파일 | Pngtree에 무료 다운로드">
            <a:extLst>
              <a:ext uri="{FF2B5EF4-FFF2-40B4-BE49-F238E27FC236}">
                <a16:creationId xmlns:a16="http://schemas.microsoft.com/office/drawing/2014/main" id="{1F5F6511-D427-48A1-9A41-524B2629B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873" y="3074290"/>
            <a:ext cx="1188973" cy="1188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Picture 8" descr="완료 도장 PNG 일러스트 | 이미지 및 PSD 파일 | Pngtree에 무료 다운로드">
            <a:extLst>
              <a:ext uri="{FF2B5EF4-FFF2-40B4-BE49-F238E27FC236}">
                <a16:creationId xmlns:a16="http://schemas.microsoft.com/office/drawing/2014/main" id="{F2C30FB6-4713-4BC1-912A-BFC87E288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257" y="3074290"/>
            <a:ext cx="1188973" cy="1188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" name="Shape 82">
            <a:extLst>
              <a:ext uri="{FF2B5EF4-FFF2-40B4-BE49-F238E27FC236}">
                <a16:creationId xmlns:a16="http://schemas.microsoft.com/office/drawing/2014/main" id="{790B3918-C1D1-470B-9C54-CBFE51EB86B2}"/>
              </a:ext>
            </a:extLst>
          </p:cNvPr>
          <p:cNvSpPr/>
          <p:nvPr/>
        </p:nvSpPr>
        <p:spPr>
          <a:xfrm>
            <a:off x="5618544" y="2706580"/>
            <a:ext cx="1413510" cy="360934"/>
          </a:xfrm>
          <a:prstGeom prst="rect">
            <a:avLst/>
          </a:prstGeom>
          <a:solidFill>
            <a:srgbClr val="0D1A26"/>
          </a:solidFill>
          <a:ln w="5080">
            <a:solidFill>
              <a:srgbClr val="2233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Text 83">
            <a:extLst>
              <a:ext uri="{FF2B5EF4-FFF2-40B4-BE49-F238E27FC236}">
                <a16:creationId xmlns:a16="http://schemas.microsoft.com/office/drawing/2014/main" id="{419A6DBF-09B2-4956-815E-36D5BED9599D}"/>
              </a:ext>
            </a:extLst>
          </p:cNvPr>
          <p:cNvSpPr/>
          <p:nvPr/>
        </p:nvSpPr>
        <p:spPr>
          <a:xfrm>
            <a:off x="5589334" y="2682248"/>
            <a:ext cx="1472184" cy="432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ko-KR" altLang="en-US" sz="700" b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서버를 적절한 온도로 만들어라</a:t>
            </a:r>
            <a:r>
              <a:rPr lang="en-US" altLang="ko-KR" sz="700" b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en-US" sz="700" b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Shape 82">
            <a:extLst>
              <a:ext uri="{FF2B5EF4-FFF2-40B4-BE49-F238E27FC236}">
                <a16:creationId xmlns:a16="http://schemas.microsoft.com/office/drawing/2014/main" id="{F86D5579-7E02-4B12-97A9-2A630C005D60}"/>
              </a:ext>
            </a:extLst>
          </p:cNvPr>
          <p:cNvSpPr/>
          <p:nvPr/>
        </p:nvSpPr>
        <p:spPr>
          <a:xfrm>
            <a:off x="7287768" y="2713990"/>
            <a:ext cx="1413510" cy="360934"/>
          </a:xfrm>
          <a:prstGeom prst="rect">
            <a:avLst/>
          </a:prstGeom>
          <a:solidFill>
            <a:srgbClr val="0D1A26"/>
          </a:solidFill>
          <a:ln w="5080">
            <a:solidFill>
              <a:srgbClr val="2233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2" name="Text 83">
            <a:extLst>
              <a:ext uri="{FF2B5EF4-FFF2-40B4-BE49-F238E27FC236}">
                <a16:creationId xmlns:a16="http://schemas.microsoft.com/office/drawing/2014/main" id="{DB8457D0-5362-4CC9-A562-2DD189BC63E7}"/>
              </a:ext>
            </a:extLst>
          </p:cNvPr>
          <p:cNvSpPr/>
          <p:nvPr/>
        </p:nvSpPr>
        <p:spPr>
          <a:xfrm>
            <a:off x="7258558" y="2682038"/>
            <a:ext cx="1472184" cy="432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ko-KR" altLang="en-US" sz="700" b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정확한 기울기로 잠금을 풀어라</a:t>
            </a:r>
            <a:r>
              <a:rPr lang="en-US" altLang="ko-KR" sz="700" b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en-US" sz="700" b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</Words>
  <Application>Microsoft Office PowerPoint</Application>
  <PresentationFormat>화면 슬라이드 쇼(16:9)</PresentationFormat>
  <Paragraphs>103</Paragraphs>
  <Slides>5</Slides>
  <Notes>5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Arial</vt:lpstr>
      <vt:lpstr>맑은 고딕</vt:lpstr>
      <vt:lpstr>Courier New</vt:lpstr>
      <vt:lpstr>Aptos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강태양/연구원/Performance&amp;Stability Unit</cp:lastModifiedBy>
  <cp:revision>2</cp:revision>
  <dcterms:created xsi:type="dcterms:W3CDTF">2026-04-15T07:58:52Z</dcterms:created>
  <dcterms:modified xsi:type="dcterms:W3CDTF">2026-04-16T23:41:17Z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2026-04-16T07:44:36Z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44aa247d-35f0-4385-af34-3578dc9eaa27</vt:lpwstr>
  </property>
  <property fmtid="{D5CDD505-2E9C-101B-9397-08002B2CF9AE}" pid="8" name="MSIP_Label_cc6ed9fc-fefc-4a0c-a6d6-10cf236c0d4f_ContentBits">
    <vt:lpwstr>1</vt:lpwstr>
  </property>
  <property fmtid="{D5CDD505-2E9C-101B-9397-08002B2CF9AE}" pid="9" name="MSIP_Label_cc6ed9fc-fefc-4a0c-a6d6-10cf236c0d4f_Tag">
    <vt:lpwstr>10, 3, 0, 2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LGE Internal Use Only</vt:lpwstr>
  </property>
</Properties>
</file>